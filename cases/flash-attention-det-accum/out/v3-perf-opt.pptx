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5240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0.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总览：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v3 → v3.1 → v3.2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确定性反向性能递进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115568"/>
            <a:ext cx="1389888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同一测试矩阵（</a:t>
            </a:r>
            <a:r>
              <a:rPr sz="13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38 case = BSND 21 + TND 17</a:t>
            </a:r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）、同一会话三方交错采集（</a:t>
            </a:r>
            <a:r>
              <a:rPr sz="13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msprof Task Duration</a:t>
            </a:r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3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）；</a:t>
            </a:r>
            <a:r>
              <a:rPr sz="13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nd </a:t>
            </a:r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路径三版同实例化（无回归），对比针对</a:t>
            </a:r>
            <a:r>
              <a:rPr sz="13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det</a:t>
            </a:r>
            <a:r>
              <a:rPr sz="13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847088"/>
          <a:ext cx="13990320" cy="2816352"/>
        </p:xfrm>
        <a:graphic>
          <a:graphicData uri="http://schemas.openxmlformats.org/drawingml/2006/table">
            <a:tbl>
              <a:tblPr/>
              <a:tblGrid>
                <a:gridCol w="868680"/>
                <a:gridCol w="1417320"/>
                <a:gridCol w="7589520"/>
                <a:gridCol w="2011680"/>
                <a:gridCol w="2103120"/>
              </a:tblGrid>
              <a:tr h="457200"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版本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commit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机制改动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主要收益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det </a:t>
                      </a:r>
                      <a:r>
                        <a:rPr sz="15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几何均值</a:t>
                      </a:r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µs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786384"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02c043b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BN2S2 det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调度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+ TND causal/flat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调度（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PR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基线）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—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786384"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af9c56b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idle-core trim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（小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shape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按调度所需最小核数启动）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 tiny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单块方格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causal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改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小档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−21%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786384"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1909a89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late-wait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轮屏障：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WAIT 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延后一轮、交替奇偶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flag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，前端滑入屏障阴影（排序语义不变）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中大档</a:t>
                      </a:r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−5~−10%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67512" y="4846320"/>
            <a:ext cx="73152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分档几何均值（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det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µs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38 case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三方交错）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5212080"/>
          <a:ext cx="7543800" cy="1938528"/>
        </p:xfrm>
        <a:graphic>
          <a:graphicData uri="http://schemas.openxmlformats.org/drawingml/2006/table">
            <a:tbl>
              <a:tblPr/>
              <a:tblGrid>
                <a:gridCol w="1325880"/>
                <a:gridCol w="1188720"/>
                <a:gridCol w="1188720"/>
                <a:gridCol w="1188720"/>
                <a:gridCol w="1325880"/>
                <a:gridCol w="1325880"/>
              </a:tblGrid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000000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档位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v3.1/v3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v3.2/v3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小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0.909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0.894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中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96.9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95.2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0.982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0.927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大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0.874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84048"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合计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0.955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2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5074920"/>
            <a:ext cx="562356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67512" y="9646920"/>
            <a:ext cx="1389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配色（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DeepSeek benchmark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家族）：卡其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opst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参考、灰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v3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、浅蓝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v3.1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、深蓝斜纹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v3.2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（本版主角）。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v3.2/v3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全矩阵几何均值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0.904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；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v3.2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det/nd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开销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1.076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已低于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opst 1.319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1.1.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版本对比：小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det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µs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三方交错采集（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柱越低越好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v3.2÷v3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提速倍率（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&gt;1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好）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opst÷v3.2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对参考达标度（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≥0.8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17904"/>
            <a:ext cx="138988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5888736"/>
            <a:ext cx="36576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BSND 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小（</a:t>
            </a:r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 case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6217920"/>
          <a:ext cx="6894576" cy="2542032"/>
        </p:xfrm>
        <a:graphic>
          <a:graphicData uri="http://schemas.openxmlformats.org/drawingml/2006/table">
            <a:tbl>
              <a:tblPr/>
              <a:tblGrid>
                <a:gridCol w="402336"/>
                <a:gridCol w="3310128"/>
                <a:gridCol w="530352"/>
                <a:gridCol w="530352"/>
                <a:gridCol w="530352"/>
                <a:gridCol w="530352"/>
                <a:gridCol w="530352"/>
                <a:gridCol w="53035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s2=300 s1=200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 s1=33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44968" y="5888736"/>
            <a:ext cx="36576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TND 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小（</a:t>
            </a:r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7 case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44968" y="6217920"/>
          <a:ext cx="6894576" cy="3273552"/>
        </p:xfrm>
        <a:graphic>
          <a:graphicData uri="http://schemas.openxmlformats.org/drawingml/2006/table">
            <a:tbl>
              <a:tblPr/>
              <a:tblGrid>
                <a:gridCol w="402336"/>
                <a:gridCol w="3310128"/>
                <a:gridCol w="530352"/>
                <a:gridCol w="530352"/>
                <a:gridCol w="530352"/>
                <a:gridCol w="530352"/>
                <a:gridCol w="530352"/>
                <a:gridCol w="53035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s2=300+1300 s1=100+800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46.8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46.9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1.2.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版本对比：中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det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µs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三方交错采集（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柱越低越好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v3.2÷v3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提速倍率（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&gt;1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好）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opst÷v3.2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对参考达标度（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≥0.8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17904"/>
            <a:ext cx="138988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5888736"/>
            <a:ext cx="36576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BSND 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中（</a:t>
            </a:r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11 case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6217920"/>
          <a:ext cx="6894576" cy="4289232"/>
        </p:xfrm>
        <a:graphic>
          <a:graphicData uri="http://schemas.openxmlformats.org/drawingml/2006/table">
            <a:tbl>
              <a:tblPr/>
              <a:tblGrid>
                <a:gridCol w="402336"/>
                <a:gridCol w="3310128"/>
                <a:gridCol w="530352"/>
                <a:gridCol w="530352"/>
                <a:gridCol w="530352"/>
                <a:gridCol w="530352"/>
                <a:gridCol w="530352"/>
                <a:gridCol w="53035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97.5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s2=777 s1=333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98.2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94.5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67.0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2848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45.4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44968" y="5888736"/>
            <a:ext cx="36576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TND 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中（</a:t>
            </a:r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6 case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44968" y="6217920"/>
          <a:ext cx="6894576" cy="2907792"/>
        </p:xfrm>
        <a:graphic>
          <a:graphicData uri="http://schemas.openxmlformats.org/drawingml/2006/table">
            <a:tbl>
              <a:tblPr/>
              <a:tblGrid>
                <a:gridCol w="402336"/>
                <a:gridCol w="3310128"/>
                <a:gridCol w="530352"/>
                <a:gridCol w="530352"/>
                <a:gridCol w="530352"/>
                <a:gridCol w="530352"/>
                <a:gridCol w="530352"/>
                <a:gridCol w="53035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587.8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498.9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396.1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179.1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215.9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1.3.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版本对比：大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det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µs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三方交错采集（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柱越低越好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· v3.2÷v3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提速倍率（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&gt;1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好）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opst÷v3.2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对参考达标度（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≥0.8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达标）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" y="1517904"/>
            <a:ext cx="13898880" cy="4206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7512" y="5888736"/>
            <a:ext cx="36576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BSND 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大（</a:t>
            </a:r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5 case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" y="6217920"/>
          <a:ext cx="6894576" cy="2542032"/>
        </p:xfrm>
        <a:graphic>
          <a:graphicData uri="http://schemas.openxmlformats.org/drawingml/2006/table">
            <a:tbl>
              <a:tblPr/>
              <a:tblGrid>
                <a:gridCol w="402336"/>
                <a:gridCol w="3310128"/>
                <a:gridCol w="530352"/>
                <a:gridCol w="530352"/>
                <a:gridCol w="530352"/>
                <a:gridCol w="530352"/>
                <a:gridCol w="530352"/>
                <a:gridCol w="53035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317.7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248.7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504.3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286.1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744968" y="5888736"/>
            <a:ext cx="3657600" cy="256032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TND 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大（</a:t>
            </a:r>
            <a:r>
              <a:rPr sz="13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4 case</a:t>
            </a:r>
            <a:r>
              <a:rPr sz="13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44968" y="6217920"/>
          <a:ext cx="6894576" cy="2176272"/>
        </p:xfrm>
        <a:graphic>
          <a:graphicData uri="http://schemas.openxmlformats.org/drawingml/2006/table">
            <a:tbl>
              <a:tblPr/>
              <a:tblGrid>
                <a:gridCol w="402336"/>
                <a:gridCol w="3310128"/>
                <a:gridCol w="530352"/>
                <a:gridCol w="530352"/>
                <a:gridCol w="530352"/>
                <a:gridCol w="530352"/>
                <a:gridCol w="530352"/>
                <a:gridCol w="530352"/>
              </a:tblGrid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n4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307.6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541.0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207.2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n1 g4 s2=2048 s1=2048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2.1.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机制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① v3.1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idle-core trim + tiny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单块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causal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改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dense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1115568"/>
            <a:ext cx="147040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commit af9c56b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65934" y="1115568"/>
            <a:ext cx="1823720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对象 小 / tiny shape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17670" y="1115568"/>
            <a:ext cx="239166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nd 无回归（±0.3µs 噪声内）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45920"/>
            <a:ext cx="67665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① idle-core trim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：小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shape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不再按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40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核空转启动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2029968"/>
          <a:ext cx="3291840" cy="731520"/>
        </p:xfrm>
        <a:graphic>
          <a:graphicData uri="http://schemas.openxmlformats.org/drawingml/2006/table">
            <a:tbl>
              <a:tblPr/>
              <a:tblGrid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S2=4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S2=5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S2=6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S2=7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S2=8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…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230693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" y="2852928"/>
            <a:ext cx="6583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v3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：按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aicNum=40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启动（空转核也付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序言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+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每轮全网格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barrier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67512" y="3200400"/>
          <a:ext cx="1097280" cy="731520"/>
        </p:xfrm>
        <a:graphic>
          <a:graphicData uri="http://schemas.openxmlformats.org/drawingml/2006/table">
            <a:tbl>
              <a:tblPr/>
              <a:tblGrid>
                <a:gridCol w="365760"/>
                <a:gridCol w="365760"/>
                <a:gridCol w="365760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S2=2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2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S1=1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0" marR="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0C318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67512" y="4023360"/>
            <a:ext cx="658368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v3.1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：保持轮数不变，取能维持该轮数的最小核数（如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2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645920"/>
            <a:ext cx="67665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② tiny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单块方格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causal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fold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串行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→ dense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并行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635240" y="2029968"/>
          <a:ext cx="3703320" cy="1042416"/>
        </p:xfrm>
        <a:graphic>
          <a:graphicData uri="http://schemas.openxmlformats.org/drawingml/2006/table">
            <a:tbl>
              <a:tblPr/>
              <a:tblGrid>
                <a:gridCol w="1051560"/>
                <a:gridCol w="1325880"/>
                <a:gridCol w="1325880"/>
              </a:tblGrid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B1H1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2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B2H1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1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空闲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2F3F5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635240" y="3072384"/>
            <a:ext cx="420624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v3 fold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：两个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(B,H)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折进同一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lane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2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轮串行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635240" y="3456432"/>
          <a:ext cx="3703320" cy="694944"/>
        </p:xfrm>
        <a:graphic>
          <a:graphicData uri="http://schemas.openxmlformats.org/drawingml/2006/table">
            <a:tbl>
              <a:tblPr/>
              <a:tblGrid>
                <a:gridCol w="1051560"/>
                <a:gridCol w="1325880"/>
                <a:gridCol w="1325880"/>
              </a:tblGrid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第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1 </a:t>
                      </a:r>
                      <a:r>
                        <a:rPr sz="130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轮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B1H1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E7CF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B2H1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7A5AF8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7635240" y="4151376"/>
            <a:ext cx="4206240" cy="237744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v3.1 dense + mask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2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核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1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轮并行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" y="4443984"/>
            <a:ext cx="73152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收益（三方交错实测，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µs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）：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v3 → v3.1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67512" y="4809744"/>
          <a:ext cx="7699248" cy="3145536"/>
        </p:xfrm>
        <a:graphic>
          <a:graphicData uri="http://schemas.openxmlformats.org/drawingml/2006/table">
            <a:tbl>
              <a:tblPr/>
              <a:tblGrid>
                <a:gridCol w="475488"/>
                <a:gridCol w="3840480"/>
                <a:gridCol w="822960"/>
                <a:gridCol w="822960"/>
                <a:gridCol w="822960"/>
                <a:gridCol w="914400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Δ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5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v3÷v3.1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+2.9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 s1=33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s2=300 s1=200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+4.9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+22.4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+0.1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67512" y="8321040"/>
            <a:ext cx="1389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小档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几何均值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24.1 → 19.1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−21%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tiny causal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已快于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nd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det/nd 0.89–0.94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）。中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/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大档顺带受益（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trim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省掉空转核的序言与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barrier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）：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大档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−6.6%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2.2.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机制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② v3.2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late-wait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轮屏障（交替奇偶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flag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67512" y="1115568"/>
            <a:ext cx="1480312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commit 1909a89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75840" y="1115568"/>
            <a:ext cx="2758186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对象 全部 det（TND 收益最大）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62042" y="1115568"/>
            <a:ext cx="2490724" cy="310896"/>
          </a:xfrm>
          <a:prstGeom prst="roundRect">
            <a:avLst>
              <a:gd name="adj" fmla="val 25000"/>
            </a:avLst>
          </a:prstGeom>
          <a:solidFill>
            <a:srgbClr val="EEF2FF"/>
          </a:solidFill>
          <a:ln w="9525">
            <a:solidFill>
              <a:srgbClr val="C9D6F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46304" tIns="0" bIns="0"/>
          <a:lstStyle/>
          <a:p>
            <a:pPr algn="ctr"/>
            <a:r>
              <a:rPr sz="1300" b="0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正确性 38 case 位级验证全过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1645920"/>
            <a:ext cx="96012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v3 —— </a:t>
            </a:r>
            <a:r>
              <a:rPr sz="14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轮末</a:t>
            </a:r>
            <a:r>
              <a:rPr sz="14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SET(r) </a:t>
            </a:r>
            <a:r>
              <a:rPr sz="14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之后立刻</a:t>
            </a:r>
            <a:r>
              <a:rPr sz="14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WAIT(r)</a:t>
            </a:r>
            <a:r>
              <a:rPr sz="14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：快核被挡在屏障上空等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67512" y="2011680"/>
          <a:ext cx="11960352" cy="1261872"/>
        </p:xfrm>
        <a:graphic>
          <a:graphicData uri="http://schemas.openxmlformats.org/drawingml/2006/table">
            <a:tbl>
              <a:tblPr/>
              <a:tblGrid>
                <a:gridCol w="841248"/>
                <a:gridCol w="1389888"/>
                <a:gridCol w="1389888"/>
                <a:gridCol w="1389888"/>
                <a:gridCol w="1389888"/>
                <a:gridCol w="1389888"/>
                <a:gridCol w="1389888"/>
                <a:gridCol w="1389888"/>
                <a:gridCol w="1389888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时间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t7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快核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C1/C2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空等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C1/C2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慢核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C1/C2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  <a:r>
                        <a:rPr sz="9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（长）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  <a:r>
                        <a:rPr sz="9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（长）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SET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8D2A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C1/C2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7512" y="3364992"/>
            <a:ext cx="96926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灰格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快核在屏障上白等慢核（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straggler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浪费）：每轮都这样，轮数越多亏得越多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4059936"/>
            <a:ext cx="96012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4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v3.2 —— SET(r) </a:t>
            </a:r>
            <a:r>
              <a:rPr sz="14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仍在轮末，</a:t>
            </a:r>
            <a:r>
              <a:rPr sz="14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WAIT(r−1) </a:t>
            </a:r>
            <a:r>
              <a:rPr sz="14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挪到本轮</a:t>
            </a:r>
            <a:r>
              <a:rPr sz="145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C34 </a:t>
            </a:r>
            <a:r>
              <a:rPr sz="145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之前：空等被下一轮前端填满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67512" y="4425696"/>
          <a:ext cx="11960352" cy="1261872"/>
        </p:xfrm>
        <a:graphic>
          <a:graphicData uri="http://schemas.openxmlformats.org/drawingml/2006/table">
            <a:tbl>
              <a:tblPr/>
              <a:tblGrid>
                <a:gridCol w="841248"/>
                <a:gridCol w="1389888"/>
                <a:gridCol w="1389888"/>
                <a:gridCol w="1389888"/>
                <a:gridCol w="1389888"/>
                <a:gridCol w="1389888"/>
                <a:gridCol w="1389888"/>
                <a:gridCol w="1389888"/>
                <a:gridCol w="1389888"/>
              </a:tblGrid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核</a:t>
                      </a: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 \ </a:t>
                      </a:r>
                      <a:r>
                        <a:rPr sz="10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时间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noFill/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t1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t3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t6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t7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t8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快核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C1/C2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C1/C2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D8E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D8E2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WAIT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8D2A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…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</a:tr>
              <a:tr h="420624"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10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慢核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C1/C2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  <a:r>
                        <a:rPr sz="9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（长）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  <a:r>
                        <a:rPr sz="9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（长）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SET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E8D2A0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C1/C2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C5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AAC1FF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</a:rPr>
                        <a:t>下轮</a:t>
                      </a:r>
                    </a:p>
                    <a:p>
                      <a:pPr algn="ctr">
                        <a:lnSpc>
                          <a:spcPct val="90000"/>
                        </a:lnSpc>
                      </a:pPr>
                      <a:r>
                        <a:rPr sz="950" b="0" u="none">
                          <a:solidFill>
                            <a:srgbClr val="FFFFFF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C34</a:t>
                      </a:r>
                    </a:p>
                  </a:txBody>
                  <a:tcPr anchor="ctr" marL="101600" marR="101600" marT="40640" marB="4064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4D6BFE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67512" y="5779008"/>
            <a:ext cx="969264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同一位置：灰格变成下一轮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C1/C2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、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C5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（浅蓝）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—— SET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语义不变，</a:t>
            </a:r>
            <a:r>
              <a:rPr sz="115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dq </a:t>
            </a:r>
            <a:r>
              <a:rPr sz="115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仍按轮序，但屏障等待落进了别人工作的阴影里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" y="6217920"/>
            <a:ext cx="73152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交错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A/B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实测（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det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µs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67512" y="6583680"/>
          <a:ext cx="6583680" cy="2450592"/>
        </p:xfrm>
        <a:graphic>
          <a:graphicData uri="http://schemas.openxmlformats.org/drawingml/2006/table">
            <a:tbl>
              <a:tblPr/>
              <a:tblGrid>
                <a:gridCol w="457200"/>
                <a:gridCol w="3291840"/>
                <a:gridCol w="777240"/>
                <a:gridCol w="777240"/>
                <a:gridCol w="777240"/>
                <a:gridCol w="502920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case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Δ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  <a:p>
                      <a:pPr algn="ctr"/>
                      <a:r>
                        <a:rPr sz="9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587.8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498.9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-88.9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-62.4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-102.9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-43.9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-32.8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47472"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97.5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-13.7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0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8229600" y="6217920"/>
            <a:ext cx="548640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轮末</a:t>
            </a:r>
            <a:r>
              <a:rPr sz="15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SET/WAIT </a:t>
            </a:r>
            <a:r>
              <a:rPr sz="15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的作用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6583680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SET(r)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广播「本核轮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r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dq/dk/dv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原子加已落盘」；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WAIT(r−1)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等全部核的上一轮到齐。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7223760"/>
            <a:ext cx="6309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跨核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fp32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原子加没有交换律，谁先到结果就不同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—— SET/WAIT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把它钉成全局轮序，这就是逐位确定性的来源。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7863840"/>
            <a:ext cx="6309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轮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r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dq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原子加仍严格晚于全部核的轮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r−1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写；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8174736"/>
            <a:ext cx="6309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MHA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dk/dv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走核私有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buffer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，只有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dq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需要轮序；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8485632"/>
            <a:ext cx="6309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GQA / TND-flat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：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dv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共享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workspace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WAIT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提前到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C5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8796528"/>
            <a:ext cx="6309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两个交替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flag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10/15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）让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 WAIT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总落在已就绪的旧代上；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9107424"/>
            <a:ext cx="630936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空轮照等保持代际对齐；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drain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等最后一轮代。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" y="9692640"/>
            <a:ext cx="138988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TND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代表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case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回收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53~88µs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（去屏障上限的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60~76%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）；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BSND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大档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−6~−59µs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。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38 case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的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det/nd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开销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1.076 ≤ opst 1.319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31/38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更低）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—— det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专项收官，剩余差距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 = 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共享主流水（</a:t>
            </a:r>
            <a:r>
              <a:rPr sz="1250" b="1" u="none">
                <a:solidFill>
                  <a:srgbClr val="F98E8B"/>
                </a:solidFill>
                <a:latin typeface="Times New Roman"/>
                <a:ea typeface="Noto Sans SC"/>
                <a:cs typeface="Noto Sans SC"/>
              </a:rPr>
              <a:t>nd</a:t>
            </a:r>
            <a:r>
              <a:rPr sz="1250" b="1" u="none">
                <a:solidFill>
                  <a:srgbClr val="F98E8B"/>
                </a:solidFill>
                <a:latin typeface="Noto Sans SC"/>
                <a:ea typeface="Noto Sans SC"/>
                <a:cs typeface="Noto Sans SC"/>
              </a:rPr>
              <a:t>）。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3.1.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全量明细：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BSND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det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µs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v3.2÷v3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提速倍率（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&gt;1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好）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opst÷v3.2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对参考达标度（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≥0.8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达标，加粗）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三方交错采集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517904"/>
          <a:ext cx="11795760" cy="7835200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914400"/>
                <a:gridCol w="914400"/>
                <a:gridCol w="914400"/>
                <a:gridCol w="914400"/>
                <a:gridCol w="11887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opst÷v3.2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g1 s2=128 s1=128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s2=300 s1=200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 s1=33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1.55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111.2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97.5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s2=777 s1=333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98.2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94.5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s2=500 s1=300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66.7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s2=900 s1=500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67.0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51.5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n3 g2 s2=333 s1=777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43.5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190.8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158.0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122.5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317.7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269.0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#19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n2 g4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248.7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224.2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295.1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283.2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545.7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504.3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306.0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33952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70.6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67512" y="566928"/>
            <a:ext cx="12344400" cy="5029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3.2.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全量明细：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TND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（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det 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核时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 µs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，</a:t>
            </a:r>
            <a:r>
              <a:rPr sz="3000" b="1" u="none">
                <a:solidFill>
                  <a:srgbClr val="1F2329"/>
                </a:solidFill>
                <a:latin typeface="Times New Roman"/>
                <a:ea typeface="Noto Sans SC"/>
                <a:cs typeface="Noto Sans SC"/>
              </a:rPr>
              <a:t>median of 25</a:t>
            </a:r>
            <a:r>
              <a:rPr sz="3000" b="1" u="none">
                <a:solidFill>
                  <a:srgbClr val="1F2329"/>
                </a:solidFill>
                <a:latin typeface="Noto Sans SC"/>
                <a:ea typeface="Noto Sans SC"/>
                <a:cs typeface="Noto Sans SC"/>
              </a:rPr>
              <a:t>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" y="1097280"/>
            <a:ext cx="13898880" cy="274320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v3.2÷v3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提速倍率（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&gt;1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好）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opst÷v3.2 =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对参考达标度（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≥0.8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达标，加粗）</a:t>
            </a:r>
            <a:r>
              <a:rPr sz="1200" b="0" u="none">
                <a:solidFill>
                  <a:srgbClr val="333333"/>
                </a:solidFill>
                <a:latin typeface="Times New Roman"/>
                <a:ea typeface="Noto Sans SC"/>
                <a:cs typeface="Noto Sans SC"/>
              </a:rPr>
              <a:t>· </a:t>
            </a:r>
            <a:r>
              <a:rPr sz="1200" b="0" u="none">
                <a:solidFill>
                  <a:srgbClr val="333333"/>
                </a:solidFill>
                <a:latin typeface="Noto Sans SC"/>
                <a:ea typeface="Noto Sans SC"/>
                <a:cs typeface="Noto Sans SC"/>
              </a:rPr>
              <a:t>三方交错采集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67512" y="1517904"/>
          <a:ext cx="11795760" cy="7607808"/>
        </p:xfrm>
        <a:graphic>
          <a:graphicData uri="http://schemas.openxmlformats.org/drawingml/2006/table">
            <a:tbl>
              <a:tblPr/>
              <a:tblGrid>
                <a:gridCol w="548640"/>
                <a:gridCol w="5120640"/>
                <a:gridCol w="914400"/>
                <a:gridCol w="914400"/>
                <a:gridCol w="914400"/>
                <a:gridCol w="914400"/>
                <a:gridCol w="1188720"/>
                <a:gridCol w="1280160"/>
              </a:tblGrid>
              <a:tr h="365760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000000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shape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v3.2÷v3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opst÷v3.2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s2=256+384 s1=256+384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s2=300+1300 s1=100+800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57.0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72.1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n1 g4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53.2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61.8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n4 g1 s2=300+400 s1=100+800 d64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32.8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64.8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62.1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g2 s2=768+1280 s1=512+1024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65.8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#29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372.4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357.1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310.0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248.4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n8 g1 s2=2048 s1=2048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587.8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590.5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498.9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396.1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113.9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113.6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89.6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b2 n2 g4 s2=1024 s1=1024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149.7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143.8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133.7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93.1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168.1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192.0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158.5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156.2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0.99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b8 n8 g1 s2=512 s1=512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309.3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299.5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179.1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1.14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n4 g1 s2=2048 s1=2048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335.6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349.5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307.6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258.3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b1 n4 g1 s2=4096 s1=4096 d128 dense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544.6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541.0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449.0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304.1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1.21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n2 g4 s2=1024 s1=1024 d128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214.0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214.1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207.2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141.7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1.03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0.68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#38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b4 n1 g4 s2=2048 s1=2048 d64 causal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278.6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278.4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256.4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181.4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0.71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  <a:solidFill>
                      <a:srgbClr val="F7F8FA"/>
                    </a:solidFill>
                  </a:tcPr>
                </a:tc>
              </a:tr>
              <a:tr h="402336"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GM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131.4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132.0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122.7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109.1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1.07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  <a:tc>
                  <a:txBody>
                    <a:bodyPr wrap="none"/>
                    <a:lstStyle/>
                    <a:p>
                      <a:pPr algn="ctr"/>
                      <a:r>
                        <a:rPr sz="1150" b="0" u="none">
                          <a:solidFill>
                            <a:srgbClr val="1F2329"/>
                          </a:solidFill>
                          <a:latin typeface="Times New Roman"/>
                          <a:ea typeface="Noto Sans SC"/>
                          <a:cs typeface="Noto Sans SC"/>
                        </a:rPr>
                        <a:t>0.89</a:t>
                      </a:r>
                    </a:p>
                  </a:txBody>
                  <a:tcPr anchor="ctr" marL="101600" marR="101600" marT="101600" marB="101600">
                    <a:lnL cmpd="sng" algn="ctr" cap="flat" w="12700">
                      <a:solidFill>
                        <a:srgbClr val="DDDEDF"/>
                      </a:solidFill>
                      <a:prstDash val="solid"/>
                      <a:round/>
                    </a:lnL>
                    <a:lnR cmpd="sng" algn="ctr" cap="flat" w="12700">
                      <a:solidFill>
                        <a:srgbClr val="DDDEDF"/>
                      </a:solidFill>
                      <a:prstDash val="solid"/>
                      <a:round/>
                    </a:lnR>
                    <a:lnT cmpd="sng" algn="ctr" cap="flat" w="12700">
                      <a:solidFill>
                        <a:srgbClr val="DDDEDF"/>
                      </a:solidFill>
                      <a:prstDash val="solid"/>
                      <a:round/>
                    </a:lnT>
                    <a:lnB cmpd="sng" algn="ctr" cap="flat" w="12700">
                      <a:solidFill>
                        <a:srgbClr val="DDDEDF"/>
                      </a:solidFill>
                      <a:prstDash val="solid"/>
                      <a:round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