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</p:sldIdLst>
  <p:sldSz cx="15240000" cy="1143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0.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总览：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7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种任务索引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同一个问题：给定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(round, core)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，这一轮这条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该算哪一块？七种规则给出七种分派方式。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67512" y="1572768"/>
          <a:ext cx="9052560" cy="4498848"/>
        </p:xfrm>
        <a:graphic>
          <a:graphicData uri="http://schemas.openxmlformats.org/drawingml/2006/table">
            <a:tbl>
              <a:tblPr/>
              <a:tblGrid>
                <a:gridCol w="2212848"/>
                <a:gridCol w="1097280"/>
                <a:gridCol w="1097280"/>
                <a:gridCol w="1280160"/>
                <a:gridCol w="822960"/>
                <a:gridCol w="822960"/>
                <a:gridCol w="1719072"/>
              </a:tblGrid>
              <a:tr h="530352"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000000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规则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layout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MHA/GQA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总轮数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低位先走哪个轴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 Dense Swizzle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BSND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非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是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2. Dense Index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BSND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非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是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批次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3. Causal Swizzle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BSND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是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fold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后）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4. Left-Up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BSND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是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列（同方形）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5. GQA Dense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BSND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非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GQA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否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（切片）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6. TND Dense Swizzle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TND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非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是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本批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7. TND GQA Dense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TND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非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GQA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否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展平索引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67512" y="6510528"/>
            <a:ext cx="138988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所有规则都是纯算术：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(round, core)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一确定，结果就唯一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——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这就是确定性的来源。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512" y="6876288"/>
            <a:ext cx="905256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表中「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causal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」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=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本页例子的形状；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GQA / TND-GQA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causal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由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epilogue mask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处理。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" y="7223760"/>
            <a:ext cx="1188720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怎么读后面的例子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512" y="7699248"/>
            <a:ext cx="9052560" cy="32918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第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页先认公用的轴遍历顺序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 → n2 → s2 → s1 → d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，以及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dS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的一列怎么变成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dK/dV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的一行。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" y="8083296"/>
            <a:ext cx="9052560" cy="32918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算法页：伪代码讲逻辑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→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任务矩阵（行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round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，列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core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→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为什么这样分。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" y="8467344"/>
            <a:ext cx="9052560" cy="32918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例子页：网格纵轴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、横轴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S2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，格内写「哪条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/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第几轮」；灰格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这一轮这条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空闲。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8851392"/>
            <a:ext cx="9052560" cy="32918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颜色只编码两个轴：颜色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哪个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，同一个颜色的深浅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第几条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列（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S2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）；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不参与配色。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04120" y="1572768"/>
            <a:ext cx="49377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格子里写什么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10104120" y="1975104"/>
          <a:ext cx="4572000" cy="2816352"/>
        </p:xfrm>
        <a:graphic>
          <a:graphicData uri="http://schemas.openxmlformats.org/drawingml/2006/table">
            <a:tbl>
              <a:tblPr/>
              <a:tblGrid>
                <a:gridCol w="960120"/>
                <a:gridCol w="361188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记号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含义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batch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N2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KV head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GQA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里的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Q head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Q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方向第几块（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128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行）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KV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方向第几块（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128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head dim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，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tile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内不切分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10104120" y="5138928"/>
            <a:ext cx="49377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每个例子都满足的三条不变量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10104120" y="5541264"/>
          <a:ext cx="4572000" cy="1901952"/>
        </p:xfrm>
        <a:graphic>
          <a:graphicData uri="http://schemas.openxmlformats.org/drawingml/2006/table">
            <a:tbl>
              <a:tblPr/>
              <a:tblGrid>
                <a:gridCol w="1600200"/>
                <a:gridCol w="2971800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不变量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含义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任务不重复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每个块只被派给一个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(round, core)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不撞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各核这一轮写的输出块互不相同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swizzle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类：一条列只归一条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10104120" y="7717536"/>
            <a:ext cx="49377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七种规则归成三条路线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10104120" y="8119871"/>
          <a:ext cx="4572000" cy="1901952"/>
        </p:xfrm>
        <a:graphic>
          <a:graphicData uri="http://schemas.openxmlformats.org/drawingml/2006/table">
            <a:tbl>
              <a:tblPr/>
              <a:tblGrid>
                <a:gridCol w="1508760"/>
                <a:gridCol w="3063240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路线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用它的规则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 Dense Swizzle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 Left-Up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 TND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切片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+ gcd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修正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 GQA Dense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（核数不受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块数限制）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按面积展平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 TND GQA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（变长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，不分列）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1.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轴遍历顺序与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dS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分块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七种规则共用同一个铺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task id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的顺序：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外层慢、内层快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。先认这个顺序，后面的分派才看得懂。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9848" y="1408176"/>
            <a:ext cx="822960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883664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最外层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938528" y="1591056"/>
            <a:ext cx="329184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2313432" y="1408176"/>
            <a:ext cx="822960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n2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57984" y="1883664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KV head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182112" y="1591056"/>
            <a:ext cx="329184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3557016" y="1408176"/>
            <a:ext cx="822960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01568" y="1883664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一条</a:t>
            </a:r>
            <a:r>
              <a:rPr sz="12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2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425696" y="1591056"/>
            <a:ext cx="329184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4800600" y="1408176"/>
            <a:ext cx="822960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45152" y="1883664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列内逐行走</a:t>
            </a:r>
            <a:r>
              <a:rPr sz="12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669280" y="1591056"/>
            <a:ext cx="329184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044184" y="1408176"/>
            <a:ext cx="822960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88736" y="1883664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tile </a:t>
            </a:r>
            <a:r>
              <a:rPr sz="12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内最内层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2212848"/>
            <a:ext cx="768096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低位先走内层轴：同一轮里各</a:t>
            </a:r>
            <a:r>
              <a:rPr sz="13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3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拿到连续的</a:t>
            </a:r>
            <a:r>
              <a:rPr sz="13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task id</a:t>
            </a:r>
            <a:r>
              <a:rPr sz="13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，落在相邻的</a:t>
            </a:r>
            <a:r>
              <a:rPr sz="13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S2 </a:t>
            </a:r>
            <a:r>
              <a:rPr sz="13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列上。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2596896"/>
            <a:ext cx="292608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① task id </a:t>
            </a:r>
            <a:r>
              <a:rPr sz="14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铺开的顺序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1554480" y="3017520"/>
          <a:ext cx="2487168" cy="2487168"/>
        </p:xfrm>
        <a:graphic>
          <a:graphicData uri="http://schemas.openxmlformats.org/drawingml/2006/table">
            <a:tbl>
              <a:tblPr/>
              <a:tblGrid>
                <a:gridCol w="621792"/>
                <a:gridCol w="621792"/>
                <a:gridCol w="621792"/>
                <a:gridCol w="621792"/>
              </a:tblGrid>
              <a:tr h="621792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4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4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4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4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4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4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4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4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4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</a:tr>
            </a:tbl>
          </a:graphicData>
        </a:graphic>
      </p:graphicFrame>
      <p:cxnSp>
        <p:nvCxnSpPr>
          <p:cNvPr id="21" name="Connector 20"/>
          <p:cNvCxnSpPr/>
          <p:nvPr/>
        </p:nvCxnSpPr>
        <p:spPr>
          <a:xfrm>
            <a:off x="1133856" y="3017520"/>
            <a:ext cx="0" cy="2066544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374904" y="3913631"/>
            <a:ext cx="71323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94960" y="2596896"/>
            <a:ext cx="292608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② </a:t>
            </a:r>
            <a:r>
              <a:rPr sz="14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分派：颜色</a:t>
            </a:r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core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5394960" y="3017520"/>
          <a:ext cx="2487168" cy="2487168"/>
        </p:xfrm>
        <a:graphic>
          <a:graphicData uri="http://schemas.openxmlformats.org/drawingml/2006/table">
            <a:tbl>
              <a:tblPr/>
              <a:tblGrid>
                <a:gridCol w="621792"/>
                <a:gridCol w="621792"/>
                <a:gridCol w="621792"/>
                <a:gridCol w="621792"/>
              </a:tblGrid>
              <a:tr h="621792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7A5AF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FA8A0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7A5AF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FA8A0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7A5AF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FA8A0"/>
                    </a:solidFill>
                  </a:tcPr>
                </a:tc>
              </a:tr>
            </a:tbl>
          </a:graphicData>
        </a:graphic>
      </p:graphicFrame>
      <p:sp>
        <p:nvSpPr>
          <p:cNvPr id="25" name="TextBox 24"/>
          <p:cNvSpPr txBox="1"/>
          <p:nvPr/>
        </p:nvSpPr>
        <p:spPr>
          <a:xfrm>
            <a:off x="1554480" y="5724144"/>
            <a:ext cx="548640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③ dS </a:t>
            </a:r>
            <a:r>
              <a:rPr sz="14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的一列</a:t>
            </a:r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→ dK/dV </a:t>
            </a:r>
            <a:r>
              <a:rPr sz="14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的一行（同一个</a:t>
            </a:r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4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块）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1554480" y="6144768"/>
          <a:ext cx="2487168" cy="2487168"/>
        </p:xfrm>
        <a:graphic>
          <a:graphicData uri="http://schemas.openxmlformats.org/drawingml/2006/table">
            <a:tbl>
              <a:tblPr/>
              <a:tblGrid>
                <a:gridCol w="621792"/>
                <a:gridCol w="621792"/>
                <a:gridCol w="621792"/>
                <a:gridCol w="621792"/>
              </a:tblGrid>
              <a:tr h="621792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4645152" y="6144768"/>
          <a:ext cx="1243584" cy="2487168"/>
        </p:xfrm>
        <a:graphic>
          <a:graphicData uri="http://schemas.openxmlformats.org/drawingml/2006/table">
            <a:tbl>
              <a:tblPr/>
              <a:tblGrid>
                <a:gridCol w="621792"/>
                <a:gridCol w="621792"/>
              </a:tblGrid>
              <a:tr h="621792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</a:tr>
            </a:tbl>
          </a:graphicData>
        </a:graphic>
      </p:graphicFrame>
      <p:cxnSp>
        <p:nvCxnSpPr>
          <p:cNvPr id="28" name="Connector 27"/>
          <p:cNvCxnSpPr/>
          <p:nvPr/>
        </p:nvCxnSpPr>
        <p:spPr>
          <a:xfrm>
            <a:off x="4114800" y="8321040"/>
            <a:ext cx="457200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6035040" y="6236207"/>
            <a:ext cx="2011680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dS 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的每一列（固定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S2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、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
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走完所有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）累加成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
dK/dV 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的一行。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
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所以这一列必须由同一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
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条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顺序算完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——
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这就是「列私有」。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
D 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方向不切分，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
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所以只画一格。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92640" y="1463040"/>
            <a:ext cx="42976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为什么这样排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92640" y="1810512"/>
            <a:ext cx="48920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低位走内层轴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→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同一轮各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拿到连续的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task id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92640" y="2103120"/>
            <a:ext cx="48920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落在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相邻的</a:t>
            </a:r>
            <a:r>
              <a:rPr sz="13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S2 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（或相邻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）上。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92640" y="2395728"/>
            <a:ext cx="48920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一条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在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m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轮内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task id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不变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→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它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守着同一条列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92640" y="2688336"/>
            <a:ext cx="48920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列内把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走一遍，这才是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“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单核顺序累加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”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92640" y="2980944"/>
            <a:ext cx="48920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S2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出现在多条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里，是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不同轮、不同</a:t>
            </a:r>
            <a:r>
              <a:rPr sz="13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；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692640" y="3273552"/>
            <a:ext cx="48920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同一条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内部它始终是同一列连续多轮。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92640" y="3913632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同一个值为什么会重复出现</a:t>
            </a:r>
          </a:p>
        </p:txBody>
      </p:sp>
      <p:graphicFrame>
        <p:nvGraphicFramePr>
          <p:cNvPr id="38" name="Table 37"/>
          <p:cNvGraphicFramePr>
            <a:graphicFrameLocks noGrp="1"/>
          </p:cNvGraphicFramePr>
          <p:nvPr/>
        </p:nvGraphicFramePr>
        <p:xfrm>
          <a:off x="9692640" y="4315968"/>
          <a:ext cx="4800600" cy="1737360"/>
        </p:xfrm>
        <a:graphic>
          <a:graphicData uri="http://schemas.openxmlformats.org/drawingml/2006/table">
            <a:tbl>
              <a:tblPr/>
              <a:tblGrid>
                <a:gridCol w="2057400"/>
                <a:gridCol w="2743200"/>
              </a:tblGrid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看到的现象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为什么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→ 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跨轮、跨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会重复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列内逐行走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→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每条列都要走一遍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(S2,S1)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双射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空泡不是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mask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=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没派活；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 =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派了不累加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39" name="TextBox 38"/>
          <p:cNvSpPr txBox="1"/>
          <p:nvPr/>
        </p:nvSpPr>
        <p:spPr>
          <a:xfrm>
            <a:off x="9692640" y="6419088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task id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展开（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1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个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9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个块）</a:t>
            </a:r>
          </a:p>
        </p:txBody>
      </p:sp>
      <p:graphicFrame>
        <p:nvGraphicFramePr>
          <p:cNvPr id="40" name="Table 39"/>
          <p:cNvGraphicFramePr>
            <a:graphicFrameLocks noGrp="1"/>
          </p:cNvGraphicFramePr>
          <p:nvPr/>
        </p:nvGraphicFramePr>
        <p:xfrm>
          <a:off x="9692640" y="6821424"/>
          <a:ext cx="4800600" cy="3657600"/>
        </p:xfrm>
        <a:graphic>
          <a:graphicData uri="http://schemas.openxmlformats.org/drawingml/2006/table">
            <a:tbl>
              <a:tblPr/>
              <a:tblGrid>
                <a:gridCol w="1051560"/>
                <a:gridCol w="640080"/>
                <a:gridCol w="777240"/>
                <a:gridCol w="822960"/>
                <a:gridCol w="822960"/>
                <a:gridCol w="685800"/>
              </a:tblGrid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task id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N2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41" name="TextBox 40"/>
          <p:cNvSpPr txBox="1"/>
          <p:nvPr/>
        </p:nvSpPr>
        <p:spPr>
          <a:xfrm>
            <a:off x="667512" y="9436608"/>
            <a:ext cx="8869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后面每种规则，只是把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“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低位先走哪个轴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”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换一下；换法不同，就得到不同的分派与不同的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idle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分布。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①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里的数字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task id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顺序；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②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颜色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core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，格内写第几轮算它。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③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是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“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列私有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”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的理由：一个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块的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dK/dV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由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</a:t>
            </a:r>
            <a:r>
              <a:rPr sz="16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dS 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的一整列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累加而来。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2. Dense Swizzle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：列私有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swizzle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输入：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· S1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3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S2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3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batch 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444752"/>
            <a:ext cx="1368044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layout BSND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163572" y="1444752"/>
            <a:ext cx="1070864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非 causal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62452" y="1444752"/>
            <a:ext cx="767080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MHA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57548" y="1444752"/>
            <a:ext cx="128879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dk/dv 列私有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" y="1847088"/>
            <a:ext cx="8778240" cy="1833372"/>
          </a:xfrm>
          <a:prstGeom prst="roundRect">
            <a:avLst>
              <a:gd name="adj" fmla="val 4000"/>
            </a:avLst>
          </a:prstGeom>
          <a:solidFill>
            <a:srgbClr val="F5F5F5"/>
          </a:solidFill>
          <a:ln w="9525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4592" rIns="164592" tIns="82296" bIns="82296"/>
          <a:lstStyle/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core 数 k=2, S1 块数 m=3, S2 块数 n=3, batch 数 b=2</a:t>
            </a:r>
          </a:p>
          <a:p>
            <a:pPr algn="l">
              <a:lnSpc>
                <a:spcPct val="112800"/>
              </a:lnSpc>
            </a:pP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对每个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(round r, core j):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task id = ((r-1) / m) * k + (j-1) 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每个 m 轮跨度内不变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第几列 = task id % n + 1           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低位先走 S2 列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第几批 = task id / n + 1           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列走完才换 batch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第几行 = (第几列-1 + r-1) % m + 1  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列内 S1 每轮往下走一行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</a:t>
            </a: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输出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: B, N2, G, S1=第几行, S2=第几列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67512" y="3954780"/>
          <a:ext cx="8522206" cy="4572000"/>
        </p:xfrm>
        <a:graphic>
          <a:graphicData uri="http://schemas.openxmlformats.org/drawingml/2006/table">
            <a:tbl>
              <a:tblPr/>
              <a:tblGrid>
                <a:gridCol w="1051560"/>
                <a:gridCol w="3735323"/>
                <a:gridCol w="3735323"/>
              </a:tblGrid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1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3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4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5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6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7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8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9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67512" y="8801100"/>
            <a:ext cx="3657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为什么这样分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9130284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低位是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S2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→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同一轮里相邻的核落在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相邻两列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上；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9404604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task id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在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m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轮内不变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→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一条核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守死一条列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，列内把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走一遍。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" y="9678924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S2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出现在多条核上，是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不同</a:t>
            </a:r>
            <a:r>
              <a:rPr sz="13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/ 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不同轮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2720" y="1847088"/>
            <a:ext cx="42976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格子里写什么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2720" y="217627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  = batch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0" y="2432304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N2 = KV head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0" y="2688336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G  = GQA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里第几个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Q head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2944368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Q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行）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3200400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S2 = KV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345643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  = head dim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tile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内不切分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32720" y="4187952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10332720" y="4590288"/>
          <a:ext cx="4297679" cy="1828800"/>
        </p:xfrm>
        <a:graphic>
          <a:graphicData uri="http://schemas.openxmlformats.org/drawingml/2006/table">
            <a:tbl>
              <a:tblPr/>
              <a:tblGrid>
                <a:gridCol w="3017520"/>
                <a:gridCol w="1280160"/>
              </a:tblGrid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每核独占的列数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10332720" y="6711696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Dense Swizzle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还是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Dense Index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？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10332720" y="7114032"/>
          <a:ext cx="4297680" cy="2377440"/>
        </p:xfrm>
        <a:graphic>
          <a:graphicData uri="http://schemas.openxmlformats.org/drawingml/2006/table">
            <a:tbl>
              <a:tblPr/>
              <a:tblGrid>
                <a:gridCol w="1207008"/>
                <a:gridCol w="3090672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判据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两条规则的区别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低位先走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Swizzle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  ·   Index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批次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同一轮各核落在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Swizzle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：同一个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的不同列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Index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：同一条列的不同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什么时候选它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Swizzle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：核数不多，一条核守死一条列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Index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：核数超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块数时用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本页用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Swizzle ★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5" name="TextBox 24"/>
          <p:cNvSpPr txBox="1"/>
          <p:nvPr/>
        </p:nvSpPr>
        <p:spPr>
          <a:xfrm>
            <a:off x="667512" y="10259568"/>
            <a:ext cx="138988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低位走列：同一轮里各核是同一个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的不同列；一条核守死一条列，列内把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S1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走完。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2. Dense Swizzle ——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例子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把任务矩阵摊到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S1×S2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平面上：纵轴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、横轴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S2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；颜色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batch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，同一个颜色的深浅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第几条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列，格内是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与轮次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920240" y="2377440"/>
          <a:ext cx="2560320" cy="2560320"/>
        </p:xfrm>
        <a:graphic>
          <a:graphicData uri="http://schemas.openxmlformats.org/drawingml/2006/table">
            <a:tbl>
              <a:tblPr/>
              <a:tblGrid>
                <a:gridCol w="640080"/>
                <a:gridCol w="640080"/>
                <a:gridCol w="640080"/>
                <a:gridCol w="640080"/>
              </a:tblGrid>
              <a:tr h="64008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95681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298448" y="2377440"/>
            <a:ext cx="0" cy="2176272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39496" y="3328416"/>
            <a:ext cx="71323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1719072"/>
            <a:ext cx="2176272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920240" y="1408176"/>
            <a:ext cx="14630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S2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715000" y="2377440"/>
          <a:ext cx="2560320" cy="2560320"/>
        </p:xfrm>
        <a:graphic>
          <a:graphicData uri="http://schemas.openxmlformats.org/drawingml/2006/table">
            <a:tbl>
              <a:tblPr/>
              <a:tblGrid>
                <a:gridCol w="640080"/>
                <a:gridCol w="640080"/>
                <a:gridCol w="640080"/>
                <a:gridCol w="640080"/>
              </a:tblGrid>
              <a:tr h="64008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75157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5285232"/>
            <a:ext cx="67208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这个例子为什么是确定的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1920240" y="5687568"/>
          <a:ext cx="6355080" cy="1609344"/>
        </p:xfrm>
        <a:graphic>
          <a:graphicData uri="http://schemas.openxmlformats.org/drawingml/2006/table">
            <a:tbl>
              <a:tblPr/>
              <a:tblGrid>
                <a:gridCol w="2011680"/>
                <a:gridCol w="434340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性质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本例情形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任务不重复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不撞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各核的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互不相同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整列只归一条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9692640" y="2724912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9692640" y="3127248"/>
          <a:ext cx="4800600" cy="1207008"/>
        </p:xfrm>
        <a:graphic>
          <a:graphicData uri="http://schemas.openxmlformats.org/drawingml/2006/table">
            <a:tbl>
              <a:tblPr/>
              <a:tblGrid>
                <a:gridCol w="868680"/>
                <a:gridCol w="3931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  (B=1 S2=3)  (B=2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  (B=2 S2=1)  (B=2 S2=3)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9692640" y="4681728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同一个值为什么会重复出现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9692640" y="5084064"/>
          <a:ext cx="4800600" cy="1645919"/>
        </p:xfrm>
        <a:graphic>
          <a:graphicData uri="http://schemas.openxmlformats.org/drawingml/2006/table">
            <a:tbl>
              <a:tblPr/>
              <a:tblGrid>
                <a:gridCol w="2057400"/>
                <a:gridCol w="2743200"/>
              </a:tblGrid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看到的现象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为什么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→ 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跨轮、跨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会重复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列内逐行走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→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每条列都要走一遍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(S2,S1)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双射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空泡不是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mask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=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没派活；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 =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派了不累加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1920240" y="7644384"/>
            <a:ext cx="63550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每核每轮守哪条列（表头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第几轮）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1920240" y="8046720"/>
          <a:ext cx="6355080" cy="877824"/>
        </p:xfrm>
        <a:graphic>
          <a:graphicData uri="http://schemas.openxmlformats.org/drawingml/2006/table">
            <a:tbl>
              <a:tblPr/>
              <a:tblGrid>
                <a:gridCol w="960120"/>
                <a:gridCol w="599440"/>
                <a:gridCol w="599440"/>
                <a:gridCol w="599440"/>
                <a:gridCol w="599440"/>
                <a:gridCol w="599440"/>
                <a:gridCol w="599440"/>
                <a:gridCol w="599440"/>
                <a:gridCol w="599440"/>
                <a:gridCol w="599440"/>
              </a:tblGrid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9692640" y="7168896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9692640" y="7571231"/>
          <a:ext cx="4800600" cy="2011680"/>
        </p:xfrm>
        <a:graphic>
          <a:graphicData uri="http://schemas.openxmlformats.org/drawingml/2006/table">
            <a:tbl>
              <a:tblPr/>
              <a:tblGrid>
                <a:gridCol w="3520440"/>
                <a:gridCol w="128016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每核独占的列数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667512" y="9436608"/>
            <a:ext cx="8869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低位走列：同一轮里各核是同一个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的不同列；一条核守死一条列，列内把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S1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走完。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一行三格深浅不同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的三条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列；</a:t>
            </a:r>
            <a:r>
              <a:rPr sz="16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不配色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，所以行内颜色一致。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条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各包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3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条列，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9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轮把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18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个块铺满。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3. Dense Index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：先分批再分列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输入：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4 · S1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S2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batch 2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&gt; S1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块数）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444752"/>
            <a:ext cx="1368044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layout BSND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163572" y="1444752"/>
            <a:ext cx="1070864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非 causal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62452" y="1444752"/>
            <a:ext cx="767080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MHA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57548" y="1444752"/>
            <a:ext cx="128879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dk/dv 列私有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74360" y="1444752"/>
            <a:ext cx="143738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核数 &gt; S1 块数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7512" y="1847088"/>
            <a:ext cx="8778240" cy="1833372"/>
          </a:xfrm>
          <a:prstGeom prst="roundRect">
            <a:avLst>
              <a:gd name="adj" fmla="val 4000"/>
            </a:avLst>
          </a:prstGeom>
          <a:solidFill>
            <a:srgbClr val="F5F5F5"/>
          </a:solidFill>
          <a:ln w="9525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4592" rIns="164592" tIns="82296" bIns="82296"/>
          <a:lstStyle/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core 数 k=4, S1 块数 m=2, S2 块数 n=2, batch 数 b=2</a:t>
            </a:r>
          </a:p>
          <a:p>
            <a:pPr algn="l">
              <a:lnSpc>
                <a:spcPct val="112800"/>
              </a:lnSpc>
            </a:pP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对每个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(round r, core j):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task id = ((r-1) / m) * k + j      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1 起算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第几批 = task id % b，得 0 时取 b   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低位先走 B（与上一页相反）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第几列 = ceil(task id / b)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第几行 = ((第几列-1) % m + (r-1) % m) % m + 1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</a:t>
            </a: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输出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: B, N2, G, S1=第几行, S2=第几列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67512" y="3954780"/>
          <a:ext cx="8522204" cy="1371600"/>
        </p:xfrm>
        <a:graphic>
          <a:graphicData uri="http://schemas.openxmlformats.org/drawingml/2006/table">
            <a:tbl>
              <a:tblPr/>
              <a:tblGrid>
                <a:gridCol w="1051560"/>
                <a:gridCol w="1867661"/>
                <a:gridCol w="1867661"/>
                <a:gridCol w="1867661"/>
                <a:gridCol w="1867661"/>
              </a:tblGrid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C4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1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67512" y="5600700"/>
            <a:ext cx="3657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为什么这样分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5929884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低位换成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→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同一轮各核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分属不同</a:t>
            </a:r>
            <a:r>
              <a:rPr sz="13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撞不到一起；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" y="6204204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所以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核数可以超过</a:t>
            </a:r>
            <a:r>
              <a:rPr sz="13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 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块数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，代价是列私有要靠切片保证。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2720" y="1847088"/>
            <a:ext cx="42976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格子里写什么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2720" y="217627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  = batch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0" y="2432304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N2 = KV head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0" y="2688336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G  = GQA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里第几个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Q head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2944368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Q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行）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3200400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S2 = KV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345643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  = head dim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tile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内不切分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32720" y="4187952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10332720" y="4590288"/>
          <a:ext cx="4297679" cy="1828800"/>
        </p:xfrm>
        <a:graphic>
          <a:graphicData uri="http://schemas.openxmlformats.org/drawingml/2006/table">
            <a:tbl>
              <a:tblPr/>
              <a:tblGrid>
                <a:gridCol w="3017520"/>
                <a:gridCol w="1280160"/>
              </a:tblGrid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每核独占的列数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10332720" y="6711696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Dense Swizzle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还是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Dense Index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？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10332720" y="7114032"/>
          <a:ext cx="4297680" cy="2377440"/>
        </p:xfrm>
        <a:graphic>
          <a:graphicData uri="http://schemas.openxmlformats.org/drawingml/2006/table">
            <a:tbl>
              <a:tblPr/>
              <a:tblGrid>
                <a:gridCol w="1207008"/>
                <a:gridCol w="3090672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判据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两条规则的区别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低位先走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Swizzle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  ·   Index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批次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同一轮各核落在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Swizzle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：同一个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的不同列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Index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：同一条列的不同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什么时候选它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Swizzle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：核数不多，一条核守死一条列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Index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：核数超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块数时用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本页用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Index ★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5" name="TextBox 24"/>
          <p:cNvSpPr txBox="1"/>
          <p:nvPr/>
        </p:nvSpPr>
        <p:spPr>
          <a:xfrm>
            <a:off x="667512" y="6771132"/>
            <a:ext cx="91440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667512" y="7173468"/>
          <a:ext cx="8778240" cy="1828800"/>
        </p:xfrm>
        <a:graphic>
          <a:graphicData uri="http://schemas.openxmlformats.org/drawingml/2006/table">
            <a:tbl>
              <a:tblPr/>
              <a:tblGrid>
                <a:gridCol w="868680"/>
                <a:gridCol w="7909560"/>
              </a:tblGrid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(B=2 S2=1)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C4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(B=2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7" name="TextBox 26"/>
          <p:cNvSpPr txBox="1"/>
          <p:nvPr/>
        </p:nvSpPr>
        <p:spPr>
          <a:xfrm>
            <a:off x="667512" y="10259568"/>
            <a:ext cx="138988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低位走批：同一轮里各核分属不同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，多出来的核用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维度消化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——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所以核数可以超过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S1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块数。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3. Dense Index ——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例子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同一个块集（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2 batch x 2x2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块）换成本页规则，只用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轮就铺满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920240" y="2377440"/>
          <a:ext cx="2560317" cy="2560317"/>
        </p:xfrm>
        <a:graphic>
          <a:graphicData uri="http://schemas.openxmlformats.org/drawingml/2006/table">
            <a:tbl>
              <a:tblPr/>
              <a:tblGrid>
                <a:gridCol w="853439"/>
                <a:gridCol w="853439"/>
                <a:gridCol w="853439"/>
              </a:tblGrid>
              <a:tr h="853439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95681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298448" y="2377440"/>
            <a:ext cx="0" cy="2048256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39496" y="3264408"/>
            <a:ext cx="71323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1719072"/>
            <a:ext cx="2048256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920240" y="1408176"/>
            <a:ext cx="14630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S2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715000" y="2377440"/>
          <a:ext cx="2560317" cy="2560317"/>
        </p:xfrm>
        <a:graphic>
          <a:graphicData uri="http://schemas.openxmlformats.org/drawingml/2006/table">
            <a:tbl>
              <a:tblPr/>
              <a:tblGrid>
                <a:gridCol w="853439"/>
                <a:gridCol w="853439"/>
                <a:gridCol w="853439"/>
              </a:tblGrid>
              <a:tr h="853439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C4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C4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75157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5285232"/>
            <a:ext cx="67208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这个例子为什么是确定的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1920240" y="5687568"/>
          <a:ext cx="6355080" cy="1609344"/>
        </p:xfrm>
        <a:graphic>
          <a:graphicData uri="http://schemas.openxmlformats.org/drawingml/2006/table">
            <a:tbl>
              <a:tblPr/>
              <a:tblGrid>
                <a:gridCol w="2011680"/>
                <a:gridCol w="434340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性质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本例情形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任务不重复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不撞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各核的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互不相同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整列只归一条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9692640" y="2724912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9692640" y="3127248"/>
          <a:ext cx="4800600" cy="2011680"/>
        </p:xfrm>
        <a:graphic>
          <a:graphicData uri="http://schemas.openxmlformats.org/drawingml/2006/table">
            <a:tbl>
              <a:tblPr/>
              <a:tblGrid>
                <a:gridCol w="868680"/>
                <a:gridCol w="3931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(B=2 S2=1)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C4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(B=2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9692640" y="5486400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同一个值为什么会重复出现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9692640" y="5888736"/>
          <a:ext cx="4800600" cy="1645919"/>
        </p:xfrm>
        <a:graphic>
          <a:graphicData uri="http://schemas.openxmlformats.org/drawingml/2006/table">
            <a:tbl>
              <a:tblPr/>
              <a:tblGrid>
                <a:gridCol w="2057400"/>
                <a:gridCol w="2743200"/>
              </a:tblGrid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看到的现象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为什么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→ 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跨轮、跨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会重复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列内逐行走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→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每条列都要走一遍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(S2,S1)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双射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空泡不是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mask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=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没派活；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 =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派了不累加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9692640" y="7973568"/>
            <a:ext cx="4800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每核每轮守哪条列（表头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第几轮）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9692640" y="8375904"/>
          <a:ext cx="4800600" cy="1463040"/>
        </p:xfrm>
        <a:graphic>
          <a:graphicData uri="http://schemas.openxmlformats.org/drawingml/2006/table">
            <a:tbl>
              <a:tblPr/>
              <a:tblGrid>
                <a:gridCol w="960120"/>
                <a:gridCol w="1920240"/>
                <a:gridCol w="1920240"/>
              </a:tblGrid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C4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67512" y="9436608"/>
            <a:ext cx="8869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低位走批：同一轮里各核分属不同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，多出来的核用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维度消化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——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所以核数可以超过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S1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块数。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4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条核各守一条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(B, S2)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列，每块只落在一条核上。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对比上一页：同轮各核从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同一个</a:t>
            </a:r>
            <a:r>
              <a:rPr sz="16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的不同列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变成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同一条列的不同</a:t>
            </a:r>
            <a:r>
              <a:rPr sz="16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4a.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虚拟列与虚拟行：折叠出来的坐标系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折叠把两个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的三角拼成一个满矩形；矩形里的行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/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列不属于任何单个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，所以叫虚拟行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/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虚拟列。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67512" y="2834640"/>
          <a:ext cx="2194560" cy="2194560"/>
        </p:xfrm>
        <a:graphic>
          <a:graphicData uri="http://schemas.openxmlformats.org/drawingml/2006/table">
            <a:tbl>
              <a:tblPr/>
              <a:tblGrid>
                <a:gridCol w="548640"/>
                <a:gridCol w="548640"/>
                <a:gridCol w="548640"/>
                <a:gridCol w="548640"/>
              </a:tblGrid>
              <a:tr h="54864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54864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54864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04088" y="2414016"/>
            <a:ext cx="21945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① B=1 </a:t>
            </a:r>
            <a:r>
              <a:rPr sz="14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的三角（真实坐标）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319272" y="2834640"/>
          <a:ext cx="2194560" cy="2194560"/>
        </p:xfrm>
        <a:graphic>
          <a:graphicData uri="http://schemas.openxmlformats.org/drawingml/2006/table">
            <a:tbl>
              <a:tblPr/>
              <a:tblGrid>
                <a:gridCol w="548640"/>
                <a:gridCol w="548640"/>
                <a:gridCol w="548640"/>
                <a:gridCol w="548640"/>
              </a:tblGrid>
              <a:tr h="54864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54864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54864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355848" y="2414016"/>
            <a:ext cx="21945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② B=2 </a:t>
            </a:r>
            <a:r>
              <a:rPr sz="14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的三角（真实坐标）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623560" y="4069080"/>
            <a:ext cx="411480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126480" y="2834640"/>
          <a:ext cx="3017520" cy="2414016"/>
        </p:xfrm>
        <a:graphic>
          <a:graphicData uri="http://schemas.openxmlformats.org/drawingml/2006/table">
            <a:tbl>
              <a:tblPr/>
              <a:tblGrid>
                <a:gridCol w="603504"/>
                <a:gridCol w="603504"/>
                <a:gridCol w="603504"/>
                <a:gridCol w="603504"/>
                <a:gridCol w="603504"/>
              </a:tblGrid>
              <a:tr h="603504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60350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60350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163056" y="2414016"/>
            <a:ext cx="30175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③ </a:t>
            </a:r>
            <a:r>
              <a:rPr sz="14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拼成满矩形：</a:t>
            </a:r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4 </a:t>
            </a:r>
            <a:r>
              <a:rPr sz="14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条虚拟列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5852160"/>
            <a:ext cx="91440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每条虚拟列由哪些格拼出来（对照一行普通列）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67512" y="6254496"/>
          <a:ext cx="8778240" cy="2523744"/>
        </p:xfrm>
        <a:graphic>
          <a:graphicData uri="http://schemas.openxmlformats.org/drawingml/2006/table">
            <a:tbl>
              <a:tblPr/>
              <a:tblGrid>
                <a:gridCol w="1783080"/>
                <a:gridCol w="3154680"/>
                <a:gridCol w="1463040"/>
                <a:gridCol w="2377440"/>
              </a:tblGrid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一条列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由哪些格组成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跨几个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要几个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buffer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普通列（对照）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格全是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(B=1 S2=1)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格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(B=1 S2=1)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格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(B=1 S2=2) + 1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格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(B=2 S2=3)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格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(B=1 S2=3) + 2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格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(B=2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格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(B=2 S2=1)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9692640" y="2377440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普通列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/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行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与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虚拟列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/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行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的区别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9692640" y="2779776"/>
          <a:ext cx="4800600" cy="2377440"/>
        </p:xfrm>
        <a:graphic>
          <a:graphicData uri="http://schemas.openxmlformats.org/drawingml/2006/table">
            <a:tbl>
              <a:tblPr/>
              <a:tblGrid>
                <a:gridCol w="1645920"/>
                <a:gridCol w="1554480"/>
                <a:gridCol w="1600200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普通的列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/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行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/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坐标是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真实坐标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(B, S1, S2)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折叠矩形里的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虚拟坐标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一条上面有几个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只有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1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个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可能跨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个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一条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守它时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只往一个输出块累加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可能同时往两个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的输出块累加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长度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一个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的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或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块数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矩形的高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/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宽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9692640" y="5394960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虚拟行又是什么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9692640" y="5797296"/>
          <a:ext cx="4800599" cy="1901952"/>
        </p:xfrm>
        <a:graphic>
          <a:graphicData uri="http://schemas.openxmlformats.org/drawingml/2006/table">
            <a:tbl>
              <a:tblPr/>
              <a:tblGrid>
                <a:gridCol w="1874519"/>
                <a:gridCol w="2926080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说明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折叠矩形里的行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不是某个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的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行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左上对齐（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 &gt; S2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虚拟高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= 2m-n+1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：多出来的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行装配对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的镜像格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整个虚拟矩形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都派活、零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idle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；折叠只覆盖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区，不用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mask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9692640" y="7973568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两条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causal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规则各折成什么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9692640" y="8375904"/>
          <a:ext cx="4800600" cy="1591055"/>
        </p:xfrm>
        <a:graphic>
          <a:graphicData uri="http://schemas.openxmlformats.org/drawingml/2006/table">
            <a:tbl>
              <a:tblPr/>
              <a:tblGrid>
                <a:gridCol w="2148840"/>
                <a:gridCol w="2651760"/>
              </a:tblGrid>
              <a:tr h="53035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规则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折叠出来的矩形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 Swizzle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 = S2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虚拟宽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= n+1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：两个三角正好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凑满，没有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idle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53035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Left-Up Causal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 &gt; S2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虚拟高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= 2m-n+1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：多出来的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行是镜像格，同样零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idle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667512" y="9436608"/>
            <a:ext cx="88696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虚拟列是折叠的产物：核按虚拟列分派，同一列的格子可能落在两个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上。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普通列只属于一个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；跨两个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的虚拟列要</a:t>
            </a:r>
            <a:r>
              <a:rPr sz="15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两个累加</a:t>
            </a:r>
            <a:r>
              <a:rPr sz="15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buffer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（只跨一个的仍只要一个）。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折回真实坐标时</a:t>
            </a:r>
            <a:r>
              <a:rPr sz="15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行列会翻转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（右上那片三角），所以格内写它最终落到哪一块。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4. Causal Swizzle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：因果折叠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输入：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· S1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3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S2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3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batch 2 · causal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S2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444752"/>
            <a:ext cx="1368044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layout BSND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163572" y="1444752"/>
            <a:ext cx="151993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causal（方形）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811524" y="1444752"/>
            <a:ext cx="767080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MHA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06620" y="1444752"/>
            <a:ext cx="183362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buffer 2 个 (parity)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68262" y="1444752"/>
            <a:ext cx="2550160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可达性 ↪ 仅 Left-Up 内部委托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7512" y="1847088"/>
            <a:ext cx="8778240" cy="2048255"/>
          </a:xfrm>
          <a:prstGeom prst="roundRect">
            <a:avLst>
              <a:gd name="adj" fmla="val 4000"/>
            </a:avLst>
          </a:prstGeom>
          <a:solidFill>
            <a:srgbClr val="F5F5F5"/>
          </a:solidFill>
          <a:ln w="9525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4592" rIns="164592" tIns="82296" bIns="82296"/>
          <a:lstStyle/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core 数 k=2, S1 块数 m=3, S2 块数 n=3, batch 数 b=2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第 1 步：把相邻两个 batch 折成一个虚拟矩形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虚拟宽 = n+1 = 4 列,  虚拟高 = m = 3 行,  虚拟 batch 数 = b/2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第 2 步：在虚拟矩形里按“列私有”规则取 task（同 Dense Swizzle）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第 3 步：把虚拟坐标折回真实坐标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</a:t>
            </a: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如果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虚拟行 &gt;= 虚拟列+1: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右上三角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    batch = 2*虚拟批; 行 = m+1-虚拟行; 列 = 2n-m-虚拟列+2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</a:t>
            </a: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否则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: batch = 2*虚拟批-1 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左下三角，行列照抄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67512" y="4169663"/>
          <a:ext cx="8522206" cy="3200400"/>
        </p:xfrm>
        <a:graphic>
          <a:graphicData uri="http://schemas.openxmlformats.org/drawingml/2006/table">
            <a:tbl>
              <a:tblPr/>
              <a:tblGrid>
                <a:gridCol w="1051560"/>
                <a:gridCol w="3735323"/>
                <a:gridCol w="3735323"/>
              </a:tblGrid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1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3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4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5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6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67512" y="7644383"/>
            <a:ext cx="3657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为什么这样分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7973567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fold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把两个相邻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的三角拼成一个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</a:t>
            </a:r>
            <a:r>
              <a:rPr sz="13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m x (n+1) 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的满矩形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task id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在矩形里照排；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" y="8247887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奇数列用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parity-0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、偶数列用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parity-1 buffer →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一条核在两个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间来回切。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512" y="8522207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矩形是满的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→ 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没有</a:t>
            </a:r>
            <a:r>
              <a:rPr sz="13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idle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、也不用打</a:t>
            </a:r>
            <a:r>
              <a:rPr sz="13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mask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2720" y="1847088"/>
            <a:ext cx="42976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格子里写什么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0" y="217627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  = batch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0" y="2432304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N2 = KV head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2688336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G  = GQA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里第几个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Q head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2944368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Q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行）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3200400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S2 = KV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32720" y="345643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  = head dim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tile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内不切分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332720" y="4187952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10332720" y="4590288"/>
          <a:ext cx="4297679" cy="1828800"/>
        </p:xfrm>
        <a:graphic>
          <a:graphicData uri="http://schemas.openxmlformats.org/drawingml/2006/table">
            <a:tbl>
              <a:tblPr/>
              <a:tblGrid>
                <a:gridCol w="3017520"/>
                <a:gridCol w="1280160"/>
              </a:tblGrid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每核独占的列数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10332720" y="6711696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同一形状下其它规则能不能用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10332720" y="7114032"/>
          <a:ext cx="4297680" cy="2852928"/>
        </p:xfrm>
        <a:graphic>
          <a:graphicData uri="http://schemas.openxmlformats.org/drawingml/2006/table">
            <a:tbl>
              <a:tblPr/>
              <a:tblGrid>
                <a:gridCol w="1188720"/>
                <a:gridCol w="768096"/>
                <a:gridCol w="2340864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规则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本形状下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条件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Swizzle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本例是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Index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本例是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 Swizzle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★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本页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偶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Left-Up Causal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也能用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偶、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S1=S2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GQA Dense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g=1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26" name="TextBox 25"/>
          <p:cNvSpPr txBox="1"/>
          <p:nvPr/>
        </p:nvSpPr>
        <p:spPr>
          <a:xfrm>
            <a:off x="667512" y="10259568"/>
            <a:ext cx="138988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两个三角正好拼成一个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m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行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n+1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列的满矩形：没有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idle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槽位、也不用打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mask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。（它只作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Left-Up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的内部委托，不单独被选中）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4. Causal Swizzle ——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例子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先看下面的虚拟矩形（两个三角拼成的满矩形），再对照上面两张真实的块图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920240" y="2377440"/>
          <a:ext cx="2560320" cy="2560320"/>
        </p:xfrm>
        <a:graphic>
          <a:graphicData uri="http://schemas.openxmlformats.org/drawingml/2006/table">
            <a:tbl>
              <a:tblPr/>
              <a:tblGrid>
                <a:gridCol w="640080"/>
                <a:gridCol w="640080"/>
                <a:gridCol w="640080"/>
                <a:gridCol w="640080"/>
              </a:tblGrid>
              <a:tr h="64008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95681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298448" y="2377440"/>
            <a:ext cx="0" cy="2176272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39496" y="3328416"/>
            <a:ext cx="71323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1719072"/>
            <a:ext cx="2176272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920240" y="1408176"/>
            <a:ext cx="14630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S2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715000" y="2377440"/>
          <a:ext cx="2560320" cy="2560320"/>
        </p:xfrm>
        <a:graphic>
          <a:graphicData uri="http://schemas.openxmlformats.org/drawingml/2006/table">
            <a:tbl>
              <a:tblPr/>
              <a:tblGrid>
                <a:gridCol w="640080"/>
                <a:gridCol w="640080"/>
                <a:gridCol w="640080"/>
                <a:gridCol w="640080"/>
              </a:tblGrid>
              <a:tr h="64008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75157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B=2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1920240" y="5715000"/>
          <a:ext cx="4800600" cy="2267712"/>
        </p:xfrm>
        <a:graphic>
          <a:graphicData uri="http://schemas.openxmlformats.org/drawingml/2006/table">
            <a:tbl>
              <a:tblPr/>
              <a:tblGrid>
                <a:gridCol w="960120"/>
                <a:gridCol w="960120"/>
                <a:gridCol w="960120"/>
                <a:gridCol w="960120"/>
                <a:gridCol w="960120"/>
              </a:tblGrid>
              <a:tr h="566928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1956816" y="5294376"/>
            <a:ext cx="4800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fold 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后的虚拟矩形（行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虚拟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S1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，列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虚拟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S2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92640" y="2724912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这个例子为什么是确定的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9692640" y="3127248"/>
          <a:ext cx="4800600" cy="1609344"/>
        </p:xfrm>
        <a:graphic>
          <a:graphicData uri="http://schemas.openxmlformats.org/drawingml/2006/table">
            <a:tbl>
              <a:tblPr/>
              <a:tblGrid>
                <a:gridCol w="2011680"/>
                <a:gridCol w="2788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性质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本例情形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任务不重复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不撞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各核的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互不相同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整列只归一条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9692640" y="5084064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9692640" y="5486400"/>
          <a:ext cx="4800600" cy="1207008"/>
        </p:xfrm>
        <a:graphic>
          <a:graphicData uri="http://schemas.openxmlformats.org/drawingml/2006/table">
            <a:tbl>
              <a:tblPr/>
              <a:tblGrid>
                <a:gridCol w="868680"/>
                <a:gridCol w="3931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  (B=1 S2=3)  (B=2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  (B=2 S2=1)  (B=2 S2=3)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9692640" y="7040879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同一个值为什么会重复出现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9692640" y="7443215"/>
          <a:ext cx="4800600" cy="1645919"/>
        </p:xfrm>
        <a:graphic>
          <a:graphicData uri="http://schemas.openxmlformats.org/drawingml/2006/table">
            <a:tbl>
              <a:tblPr/>
              <a:tblGrid>
                <a:gridCol w="2057400"/>
                <a:gridCol w="2743200"/>
              </a:tblGrid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看到的现象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为什么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→ 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跨轮、跨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会重复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列内逐行走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→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每条列都要走一遍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(S2,S1)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双射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空泡不是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mask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=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没派活；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 =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派了不累加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67512" y="9436608"/>
            <a:ext cx="8869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两个三角正好拼成一个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m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行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n+1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列的满矩形：没有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idle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槽位、也不用打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mask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。（它只作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Left-Up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的内部委托，不单独被选中）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同一个格子在两张真实图上各出现一次（颜色不同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batch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不同）。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灰格</a:t>
            </a:r>
            <a:r>
              <a:rPr sz="16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causal 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区外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（打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mask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，不加）；一条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在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间来回切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→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每核要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两个</a:t>
            </a:r>
            <a:r>
              <a:rPr sz="16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buffer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5. Left-Up Causal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：左上对齐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输入：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· S1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3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S2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3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batch 2 · causal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S2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444752"/>
            <a:ext cx="1368044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layout BSND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163572" y="1444752"/>
            <a:ext cx="173456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causal（S1 = S2）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026154" y="1444752"/>
            <a:ext cx="767080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MHA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21250" y="1444752"/>
            <a:ext cx="2177034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 = S2 时 委托方形折叠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6300" y="1444752"/>
            <a:ext cx="183362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buffer 2 个 (parity)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87942" y="1444752"/>
            <a:ext cx="2437892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可达性 ★ 偶 batch 且 S1 = S2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7512" y="1847088"/>
            <a:ext cx="8778240" cy="1618488"/>
          </a:xfrm>
          <a:prstGeom prst="roundRect">
            <a:avLst>
              <a:gd name="adj" fmla="val 4000"/>
            </a:avLst>
          </a:prstGeom>
          <a:solidFill>
            <a:srgbClr val="F5F5F5"/>
          </a:solidFill>
          <a:ln w="9525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4592" rIns="164592" tIns="82296" bIns="82296"/>
          <a:lstStyle/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core 数 k=2, S1 块数 m=3, S2 块数 n=3, batch 数 b=2</a:t>
            </a:r>
          </a:p>
          <a:p>
            <a:pPr algn="l">
              <a:lnSpc>
                <a:spcPct val="112800"/>
              </a:lnSpc>
            </a:pP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如果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m &lt;= n: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本例 3 &lt;= 3 成立 → 走这一支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直接套用 Causal Swizzle（方形折叠，见 4 节）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虚拟宽 = n+1 = 4 列,  虚拟高 = m = 3 行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折回真实坐标、列内走完 S1 —— 与 4 节同一套公式</a:t>
            </a:r>
          </a:p>
          <a:p>
            <a:pPr algn="l">
              <a:lnSpc>
                <a:spcPct val="112800"/>
              </a:lnSpc>
            </a:pP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否则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(S1 更长, 虚拟高 = 2m-n+1):  才启用左上几何（见 5b 页）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67512" y="3739896"/>
          <a:ext cx="8522206" cy="3200400"/>
        </p:xfrm>
        <a:graphic>
          <a:graphicData uri="http://schemas.openxmlformats.org/drawingml/2006/table">
            <a:tbl>
              <a:tblPr/>
              <a:tblGrid>
                <a:gridCol w="1051560"/>
                <a:gridCol w="3735323"/>
                <a:gridCol w="3735323"/>
              </a:tblGrid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1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3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4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5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6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67512" y="7214616"/>
            <a:ext cx="3657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为什么这样分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" y="7543800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本例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 = S2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m &lt;= n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→ 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直接委托给方形折叠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，不启用左上几何；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512" y="7818120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所以分派结果和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4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节完全一样：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虚拟宽</a:t>
            </a:r>
            <a:r>
              <a:rPr sz="13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n+1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、零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idle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、不用打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mask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2720" y="1847088"/>
            <a:ext cx="42976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格子里写什么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0" y="217627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  = batch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0" y="2432304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N2 = KV head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2688336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G  = GQA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里第几个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Q head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2944368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Q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行）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3200400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S2 = KV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32720" y="345643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  = head dim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tile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内不切分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332720" y="4187952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10332720" y="4590288"/>
          <a:ext cx="4297679" cy="1828800"/>
        </p:xfrm>
        <a:graphic>
          <a:graphicData uri="http://schemas.openxmlformats.org/drawingml/2006/table">
            <a:tbl>
              <a:tblPr/>
              <a:tblGrid>
                <a:gridCol w="3017520"/>
                <a:gridCol w="1280160"/>
              </a:tblGrid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每核独占的列数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10332720" y="6711696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同一形状下其它规则能不能用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10332720" y="7114032"/>
          <a:ext cx="4297680" cy="2852928"/>
        </p:xfrm>
        <a:graphic>
          <a:graphicData uri="http://schemas.openxmlformats.org/drawingml/2006/table">
            <a:tbl>
              <a:tblPr/>
              <a:tblGrid>
                <a:gridCol w="1188720"/>
                <a:gridCol w="768096"/>
                <a:gridCol w="2340864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规则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本形状下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条件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Swizzle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本例是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Index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本例是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 Swizzle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也能用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偶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Left-Up Causal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★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本页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偶、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S1=S2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GQA Dense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g=1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26" name="TextBox 25"/>
          <p:cNvSpPr txBox="1"/>
          <p:nvPr/>
        </p:nvSpPr>
        <p:spPr>
          <a:xfrm>
            <a:off x="667512" y="8385048"/>
            <a:ext cx="91440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667512" y="8787384"/>
          <a:ext cx="8778240" cy="1097280"/>
        </p:xfrm>
        <a:graphic>
          <a:graphicData uri="http://schemas.openxmlformats.org/drawingml/2006/table">
            <a:tbl>
              <a:tblPr/>
              <a:tblGrid>
                <a:gridCol w="868680"/>
                <a:gridCol w="7909560"/>
              </a:tblGrid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  (B=1 S2=3)  (B=2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  (B=2 S2=1)  (B=2 S2=3)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8" name="TextBox 27"/>
          <p:cNvSpPr txBox="1"/>
          <p:nvPr/>
        </p:nvSpPr>
        <p:spPr>
          <a:xfrm>
            <a:off x="667512" y="10259568"/>
            <a:ext cx="138988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S1 = S2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时它不做自己的几何：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直接委托给方形折叠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，结果与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4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节一致。（选择器：偶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且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S1 = S2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才选它）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5. Left-Up Causal ——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例子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形状与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4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节相同（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S2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），因为这一支就是委托方形折叠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——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对照两页可以确认结果一致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920240" y="2377440"/>
          <a:ext cx="2560320" cy="2560320"/>
        </p:xfrm>
        <a:graphic>
          <a:graphicData uri="http://schemas.openxmlformats.org/drawingml/2006/table">
            <a:tbl>
              <a:tblPr/>
              <a:tblGrid>
                <a:gridCol w="640080"/>
                <a:gridCol w="640080"/>
                <a:gridCol w="640080"/>
                <a:gridCol w="640080"/>
              </a:tblGrid>
              <a:tr h="64008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95681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298448" y="2377440"/>
            <a:ext cx="0" cy="2176272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39496" y="3328416"/>
            <a:ext cx="71323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1719072"/>
            <a:ext cx="2176272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920240" y="1408176"/>
            <a:ext cx="14630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S2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715000" y="2377440"/>
          <a:ext cx="2560320" cy="2560320"/>
        </p:xfrm>
        <a:graphic>
          <a:graphicData uri="http://schemas.openxmlformats.org/drawingml/2006/table">
            <a:tbl>
              <a:tblPr/>
              <a:tblGrid>
                <a:gridCol w="640080"/>
                <a:gridCol w="640080"/>
                <a:gridCol w="640080"/>
                <a:gridCol w="640080"/>
              </a:tblGrid>
              <a:tr h="64008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75157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B=2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1920240" y="5715000"/>
          <a:ext cx="4800600" cy="2267712"/>
        </p:xfrm>
        <a:graphic>
          <a:graphicData uri="http://schemas.openxmlformats.org/drawingml/2006/table">
            <a:tbl>
              <a:tblPr/>
              <a:tblGrid>
                <a:gridCol w="960120"/>
                <a:gridCol w="960120"/>
                <a:gridCol w="960120"/>
                <a:gridCol w="960120"/>
                <a:gridCol w="960120"/>
              </a:tblGrid>
              <a:tr h="566928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1956816" y="5294376"/>
            <a:ext cx="4800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fold 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后的虚拟矩形（行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虚拟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S1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，列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虚拟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S2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92640" y="2724912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这个例子为什么是确定的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9692640" y="3127248"/>
          <a:ext cx="4800600" cy="1609344"/>
        </p:xfrm>
        <a:graphic>
          <a:graphicData uri="http://schemas.openxmlformats.org/drawingml/2006/table">
            <a:tbl>
              <a:tblPr/>
              <a:tblGrid>
                <a:gridCol w="2011680"/>
                <a:gridCol w="2788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性质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本例情形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任务不重复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不撞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各核的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互不相同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整列只归一条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9692640" y="5084064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9692640" y="5486400"/>
          <a:ext cx="4800600" cy="1207008"/>
        </p:xfrm>
        <a:graphic>
          <a:graphicData uri="http://schemas.openxmlformats.org/drawingml/2006/table">
            <a:tbl>
              <a:tblPr/>
              <a:tblGrid>
                <a:gridCol w="868680"/>
                <a:gridCol w="3931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  (B=1 S2=3)  (B=2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  (B=2 S2=1)  (B=2 S2=3)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9692640" y="7040879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同一个值为什么会重复出现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9692640" y="7443215"/>
          <a:ext cx="4800600" cy="1645919"/>
        </p:xfrm>
        <a:graphic>
          <a:graphicData uri="http://schemas.openxmlformats.org/drawingml/2006/table">
            <a:tbl>
              <a:tblPr/>
              <a:tblGrid>
                <a:gridCol w="2057400"/>
                <a:gridCol w="2743200"/>
              </a:tblGrid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看到的现象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为什么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→ 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跨轮、跨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会重复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列内逐行走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→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每条列都要走一遍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(S2,S1)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双射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空泡不是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mask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=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没派活；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 =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派了不累加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67512" y="9436608"/>
            <a:ext cx="8869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S1 = S2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时它不做自己的几何：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直接委托给方形折叠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，结果与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4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节一致。（选择器：偶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且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S1 = S2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才选它）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同一个</a:t>
            </a:r>
            <a:r>
              <a:rPr sz="16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(B, S1, S2) 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集合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，与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4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节的例子逐格相同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——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委托就是这条路。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区别只在调度器怎么选：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S2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时它可能落到这条规则上，再走进方形折叠。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5b. Left-Up Causal ——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非方形例子（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 4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· S2 3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块）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上一页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 = S2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，走的是委托的方形折叠；这一页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 &gt; S2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，才是它自己的几何：虚拟高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2m-n+1 = 6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92640" y="1115568"/>
            <a:ext cx="493776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50" b="0">
                <a:solidFill>
                  <a:srgbClr val="D83931"/>
                </a:solidFill>
                <a:latin typeface="Times New Roman"/>
                <a:ea typeface="Noto Sans SC"/>
                <a:cs typeface="Noto Sans SC"/>
              </a:rPr>
              <a:t>⚠ </a:t>
            </a:r>
            <a:r>
              <a:rPr sz="1350" b="0">
                <a:solidFill>
                  <a:srgbClr val="D83931"/>
                </a:solidFill>
                <a:latin typeface="Noto Sans SC"/>
                <a:ea typeface="Noto Sans SC"/>
                <a:cs typeface="Noto Sans SC"/>
              </a:rPr>
              <a:t>选择器不会走这一支：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92640" y="1389888"/>
            <a:ext cx="493776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50" b="0">
                <a:solidFill>
                  <a:srgbClr val="D83931"/>
                </a:solidFill>
                <a:latin typeface="Times New Roman"/>
                <a:ea typeface="Noto Sans SC"/>
                <a:cs typeface="Noto Sans SC"/>
              </a:rPr>
              <a:t>S1 &gt; S2 </a:t>
            </a:r>
            <a:r>
              <a:rPr sz="1350" b="0">
                <a:solidFill>
                  <a:srgbClr val="D83931"/>
                </a:solidFill>
                <a:latin typeface="Noto Sans SC"/>
                <a:ea typeface="Noto Sans SC"/>
                <a:cs typeface="Noto Sans SC"/>
              </a:rPr>
              <a:t>的</a:t>
            </a:r>
            <a:r>
              <a:rPr sz="1350" b="0">
                <a:solidFill>
                  <a:srgbClr val="D83931"/>
                </a:solidFill>
                <a:latin typeface="Times New Roman"/>
                <a:ea typeface="Noto Sans SC"/>
                <a:cs typeface="Noto Sans SC"/>
              </a:rPr>
              <a:t> causal </a:t>
            </a:r>
            <a:r>
              <a:rPr sz="1350" b="0">
                <a:solidFill>
                  <a:srgbClr val="D83931"/>
                </a:solidFill>
                <a:latin typeface="Noto Sans SC"/>
                <a:ea typeface="Noto Sans SC"/>
                <a:cs typeface="Noto Sans SC"/>
              </a:rPr>
              <a:t>用</a:t>
            </a:r>
            <a:r>
              <a:rPr sz="1350" b="0">
                <a:solidFill>
                  <a:srgbClr val="D83931"/>
                </a:solidFill>
                <a:latin typeface="Times New Roman"/>
                <a:ea typeface="Noto Sans SC"/>
                <a:cs typeface="Noto Sans SC"/>
              </a:rPr>
              <a:t> dense + mask</a:t>
            </a:r>
            <a:r>
              <a:rPr sz="1350" b="0">
                <a:solidFill>
                  <a:srgbClr val="D83931"/>
                </a:solidFill>
                <a:latin typeface="Noto Sans SC"/>
                <a:ea typeface="Noto Sans SC"/>
                <a:cs typeface="Noto Sans SC"/>
              </a:rPr>
              <a:t>；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92640" y="1664207"/>
            <a:ext cx="493776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50" b="0">
                <a:solidFill>
                  <a:srgbClr val="D83931"/>
                </a:solidFill>
                <a:latin typeface="Noto Sans SC"/>
                <a:ea typeface="Noto Sans SC"/>
                <a:cs typeface="Noto Sans SC"/>
              </a:rPr>
              <a:t>本页只解释该算法的几何。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1920240" y="2103120"/>
          <a:ext cx="2340864" cy="2926080"/>
        </p:xfrm>
        <a:graphic>
          <a:graphicData uri="http://schemas.openxmlformats.org/drawingml/2006/table">
            <a:tbl>
              <a:tblPr/>
              <a:tblGrid>
                <a:gridCol w="585216"/>
                <a:gridCol w="585216"/>
                <a:gridCol w="585216"/>
                <a:gridCol w="585216"/>
              </a:tblGrid>
              <a:tr h="585216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58521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58521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58521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S1=4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1956816" y="1682495"/>
            <a:ext cx="2340864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080760" y="2103120"/>
          <a:ext cx="2340864" cy="2926080"/>
        </p:xfrm>
        <a:graphic>
          <a:graphicData uri="http://schemas.openxmlformats.org/drawingml/2006/table">
            <a:tbl>
              <a:tblPr/>
              <a:tblGrid>
                <a:gridCol w="585216"/>
                <a:gridCol w="585216"/>
                <a:gridCol w="585216"/>
                <a:gridCol w="585216"/>
              </a:tblGrid>
              <a:tr h="585216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58521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58521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58521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S1=4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117336" y="1682495"/>
            <a:ext cx="2340864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B=2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298448" y="2103120"/>
            <a:ext cx="0" cy="257495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39496" y="3253435"/>
            <a:ext cx="71323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1920240" y="5623560"/>
          <a:ext cx="2340864" cy="3712463"/>
        </p:xfrm>
        <a:graphic>
          <a:graphicData uri="http://schemas.openxmlformats.org/drawingml/2006/table">
            <a:tbl>
              <a:tblPr/>
              <a:tblGrid>
                <a:gridCol w="585216"/>
                <a:gridCol w="585216"/>
                <a:gridCol w="585216"/>
                <a:gridCol w="585216"/>
              </a:tblGrid>
              <a:tr h="530352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</a:tr>
              <a:tr h="53035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</a:tr>
              <a:tr h="53035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53035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53035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53035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1956816" y="5202936"/>
            <a:ext cx="38404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fold 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后的虚拟矩形（行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虚拟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S1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，列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虚拟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S2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92640" y="2724912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这个例子为什么是确定的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9692640" y="3127248"/>
          <a:ext cx="4800600" cy="1609344"/>
        </p:xfrm>
        <a:graphic>
          <a:graphicData uri="http://schemas.openxmlformats.org/drawingml/2006/table">
            <a:tbl>
              <a:tblPr/>
              <a:tblGrid>
                <a:gridCol w="2011680"/>
                <a:gridCol w="2788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性质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本例情形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任务不重复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不撞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各核的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互不相同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整列只归一条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9692640" y="5084064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9692640" y="5486400"/>
          <a:ext cx="4800600" cy="1536192"/>
        </p:xfrm>
        <a:graphic>
          <a:graphicData uri="http://schemas.openxmlformats.org/drawingml/2006/table">
            <a:tbl>
              <a:tblPr/>
              <a:tblGrid>
                <a:gridCol w="868680"/>
                <a:gridCol w="3931920"/>
              </a:tblGrid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  (B=2 S2=3)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  (B=2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S2=3)  (B=2 S2=1)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9692640" y="7370064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9692640" y="7772400"/>
          <a:ext cx="4800600" cy="2304288"/>
        </p:xfrm>
        <a:graphic>
          <a:graphicData uri="http://schemas.openxmlformats.org/drawingml/2006/table">
            <a:tbl>
              <a:tblPr/>
              <a:tblGrid>
                <a:gridCol w="3520440"/>
                <a:gridCol w="1280160"/>
              </a:tblGrid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虚拟高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= 2m-n+1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每核负责的真实列数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21" name="TextBox 20"/>
          <p:cNvSpPr txBox="1"/>
          <p:nvPr/>
        </p:nvSpPr>
        <p:spPr>
          <a:xfrm>
            <a:off x="667512" y="9528048"/>
            <a:ext cx="88696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形状一变，折叠几何跟着变：虚拟高从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m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变成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2m-n+1 = 6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，但规则本身没变。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每个核守一条虚拟列，落到真实坐标上就是</a:t>
            </a:r>
            <a:r>
              <a:rPr sz="15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两个</a:t>
            </a:r>
            <a:r>
              <a:rPr sz="15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5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各一条</a:t>
            </a:r>
            <a:r>
              <a:rPr sz="15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S2 </a:t>
            </a:r>
            <a:r>
              <a:rPr sz="15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3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条核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x 6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轮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18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个槽位，正好铺满因果区的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18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个块。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6. GQA Dense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：任务切片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输入：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· S1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S2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batch 1 · GQA g=2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444752"/>
            <a:ext cx="1368044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layout BSND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163572" y="1444752"/>
            <a:ext cx="2186940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causal（epilogue mask）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78528" y="1444752"/>
            <a:ext cx="730758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GQA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337302" y="1444752"/>
            <a:ext cx="188315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dk/dv 共享 workspace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" y="1847088"/>
            <a:ext cx="8778240" cy="2478023"/>
          </a:xfrm>
          <a:prstGeom prst="roundRect">
            <a:avLst>
              <a:gd name="adj" fmla="val 4000"/>
            </a:avLst>
          </a:prstGeom>
          <a:solidFill>
            <a:srgbClr val="F5F5F5"/>
          </a:solidFill>
          <a:ln w="9525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4592" rIns="164592" tIns="82296" bIns="82296"/>
          <a:lstStyle/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core 数 k=2, S1 块数 m=2, S2 块数 n=2, batch 数 b=1, g=2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每条核要跑几轮: R = max(ceil(b*n*g/k), ceil(n/m), g) = 2</a:t>
            </a:r>
          </a:p>
          <a:p>
            <a:pPr algn="l">
              <a:lnSpc>
                <a:spcPct val="112800"/>
              </a:lnSpc>
            </a:pP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对每个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(round r, core j):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task id = (j-1)*R + ceil(r/m)   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core j 独占 R 个连续 task id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批 = ceil( (task id % (b*g) 或取满) / g )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第几列 = ceil(task id / (b*g))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第几组 = task id % g，得 0 时取 g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起点偏移 = ceil( (第几列 % (t1*m) 或取满) / t1 ),  t1 = R/gcd(b*g, R)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第几行 = (轮内序号 + 起点偏移 - 1) % m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若 t1*m &lt; n: 还要一步 ID 重排修正（本例不触发）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67512" y="4599431"/>
          <a:ext cx="8522206" cy="2286000"/>
        </p:xfrm>
        <a:graphic>
          <a:graphicData uri="http://schemas.openxmlformats.org/drawingml/2006/table">
            <a:tbl>
              <a:tblPr/>
              <a:tblGrid>
                <a:gridCol w="1051560"/>
                <a:gridCol w="3735323"/>
                <a:gridCol w="3735323"/>
              </a:tblGrid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1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3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4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67512" y="7159751"/>
            <a:ext cx="3657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为什么这样分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7488935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一个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KV head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对应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Q head →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列的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份贡献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不保证同核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；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7763255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R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与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非整除或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gcd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修正时会分裂）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→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切片分核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+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共享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workspace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的轮序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atomic add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2720" y="1847088"/>
            <a:ext cx="42976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格子里写什么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2720" y="217627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  = batch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2720" y="2432304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N2 = KV head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0" y="2688336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G  = GQA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里第几个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Q head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0" y="2944368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Q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行）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3200400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S2 = KV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345643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  = head dim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tile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内不切分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4187952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10332720" y="4590288"/>
          <a:ext cx="4297679" cy="1463040"/>
        </p:xfrm>
        <a:graphic>
          <a:graphicData uri="http://schemas.openxmlformats.org/drawingml/2006/table">
            <a:tbl>
              <a:tblPr/>
              <a:tblGrid>
                <a:gridCol w="3017520"/>
                <a:gridCol w="1280160"/>
              </a:tblGrid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10332720" y="6345936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同一形状下其它规则能不能用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10332720" y="6748272"/>
          <a:ext cx="4297680" cy="2852928"/>
        </p:xfrm>
        <a:graphic>
          <a:graphicData uri="http://schemas.openxmlformats.org/drawingml/2006/table">
            <a:tbl>
              <a:tblPr/>
              <a:tblGrid>
                <a:gridCol w="1188720"/>
                <a:gridCol w="768096"/>
                <a:gridCol w="2340864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规则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本形状下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条件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Swizzle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g=2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Index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g=2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 Swizzle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本例非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Left-Up Causal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本例非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GQA Dense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★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本页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 &gt; 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667512" y="8330183"/>
            <a:ext cx="91440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667512" y="8732519"/>
          <a:ext cx="8778240" cy="1097280"/>
        </p:xfrm>
        <a:graphic>
          <a:graphicData uri="http://schemas.openxmlformats.org/drawingml/2006/table">
            <a:tbl>
              <a:tblPr/>
              <a:tblGrid>
                <a:gridCol w="868680"/>
                <a:gridCol w="7909560"/>
              </a:tblGrid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6" name="TextBox 25"/>
          <p:cNvSpPr txBox="1"/>
          <p:nvPr/>
        </p:nvSpPr>
        <p:spPr>
          <a:xfrm>
            <a:off x="667512" y="10259568"/>
            <a:ext cx="138988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同一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列的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份贡献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不保证同核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R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与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非整除、或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gcd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修正时会分裂）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→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不依赖列私有，改用共享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workspace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的轮序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atomic add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6. GQA Dense ——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例子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同一个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(S1,S2)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格上叠着两个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的任务，所以按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拆成两张图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920240" y="2377440"/>
          <a:ext cx="2560317" cy="2560317"/>
        </p:xfrm>
        <a:graphic>
          <a:graphicData uri="http://schemas.openxmlformats.org/drawingml/2006/table">
            <a:tbl>
              <a:tblPr/>
              <a:tblGrid>
                <a:gridCol w="853439"/>
                <a:gridCol w="853439"/>
                <a:gridCol w="853439"/>
              </a:tblGrid>
              <a:tr h="853439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95681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 N2=1 G=1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298448" y="2377440"/>
            <a:ext cx="0" cy="2048256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39496" y="3264408"/>
            <a:ext cx="71323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1719072"/>
            <a:ext cx="2048256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920240" y="1408176"/>
            <a:ext cx="14630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S2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715000" y="2377440"/>
          <a:ext cx="2560317" cy="2560317"/>
        </p:xfrm>
        <a:graphic>
          <a:graphicData uri="http://schemas.openxmlformats.org/drawingml/2006/table">
            <a:tbl>
              <a:tblPr/>
              <a:tblGrid>
                <a:gridCol w="853439"/>
                <a:gridCol w="853439"/>
                <a:gridCol w="853439"/>
              </a:tblGrid>
              <a:tr h="853439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75157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 N2=1 G=2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5285232"/>
            <a:ext cx="67208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这个例子为什么是确定的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1920240" y="5687568"/>
          <a:ext cx="6355080" cy="1609344"/>
        </p:xfrm>
        <a:graphic>
          <a:graphicData uri="http://schemas.openxmlformats.org/drawingml/2006/table">
            <a:tbl>
              <a:tblPr/>
              <a:tblGrid>
                <a:gridCol w="2011680"/>
                <a:gridCol w="434340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性质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本例情形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任务不重复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不撞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各核的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互不相同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—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不适用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9692640" y="2724912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9692640" y="3127248"/>
          <a:ext cx="4800600" cy="1207008"/>
        </p:xfrm>
        <a:graphic>
          <a:graphicData uri="http://schemas.openxmlformats.org/drawingml/2006/table">
            <a:tbl>
              <a:tblPr/>
              <a:tblGrid>
                <a:gridCol w="868680"/>
                <a:gridCol w="3931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9692640" y="4681728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同一个值为什么会重复出现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9692640" y="5084064"/>
          <a:ext cx="4800600" cy="1645919"/>
        </p:xfrm>
        <a:graphic>
          <a:graphicData uri="http://schemas.openxmlformats.org/drawingml/2006/table">
            <a:tbl>
              <a:tblPr/>
              <a:tblGrid>
                <a:gridCol w="2057400"/>
                <a:gridCol w="2743200"/>
              </a:tblGrid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看到的现象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为什么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→ 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跨轮、跨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会重复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列内逐行走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→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每条列都要走一遍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一条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KV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g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份贡献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不保证同核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→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共享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workspace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(S2,S1)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只出现一次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双射：每个块只被派一次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1920240" y="7644384"/>
            <a:ext cx="63550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每核每轮守哪条列（表头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第几轮）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1920240" y="8046720"/>
          <a:ext cx="6355080" cy="877824"/>
        </p:xfrm>
        <a:graphic>
          <a:graphicData uri="http://schemas.openxmlformats.org/drawingml/2006/table">
            <a:tbl>
              <a:tblPr/>
              <a:tblGrid>
                <a:gridCol w="960120"/>
                <a:gridCol w="1348740"/>
                <a:gridCol w="1348740"/>
                <a:gridCol w="1348740"/>
                <a:gridCol w="1348740"/>
              </a:tblGrid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9692640" y="7168896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9692640" y="7571231"/>
          <a:ext cx="4800600" cy="1609344"/>
        </p:xfrm>
        <a:graphic>
          <a:graphicData uri="http://schemas.openxmlformats.org/drawingml/2006/table">
            <a:tbl>
              <a:tblPr/>
              <a:tblGrid>
                <a:gridCol w="3520440"/>
                <a:gridCol w="128016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667512" y="9436608"/>
            <a:ext cx="8869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同一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列的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份贡献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不保证同核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R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与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非整除、或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gcd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修正时会分裂）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→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不依赖列私有，改用共享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workspace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的轮序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atomic add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同一格上两个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的任务分两行写；颜色仍是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、深浅仍是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本例两条列恰好各自单核；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跨核时不保证列私有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→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共享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workspace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按轮序累加。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7. TND Dense Swizzle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：逐批列私有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输入：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各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[3, 2] · S2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[2, 3]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（长度不等）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444752"/>
            <a:ext cx="1741170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layout TND (变长)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536698" y="1444752"/>
            <a:ext cx="1070864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非 causal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735578" y="1444752"/>
            <a:ext cx="767080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MHA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630674" y="1444752"/>
            <a:ext cx="128879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dk/dv 列私有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" y="1847088"/>
            <a:ext cx="8778240" cy="2478023"/>
          </a:xfrm>
          <a:prstGeom prst="roundRect">
            <a:avLst>
              <a:gd name="adj" fmla="val 4000"/>
            </a:avLst>
          </a:prstGeom>
          <a:solidFill>
            <a:srgbClr val="F5F5F5"/>
          </a:solidFill>
          <a:ln w="9525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4592" rIns="164592" tIns="82296" bIns="82296"/>
          <a:lstStyle/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core 数 k=2, batch 数 b=2, 各 batch 长度不同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先算每个 batch 要跑几轮，存成前缀表（轮数可以逐 batch 不同）: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每 batch 轮数 = ceil(该 batch 列数 * head 数 / k) * 该 batch S1 块数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例子: batch1 要 3 轮, batch2 要 4 轮 → 前缀 [0, 3, 7]</a:t>
            </a:r>
          </a:p>
          <a:p>
            <a:pPr algn="l">
              <a:lnSpc>
                <a:spcPct val="112800"/>
              </a:lnSpc>
            </a:pP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对每个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(round r, core j):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在轮前缀表里查 r 落到哪个 batch, 批内轮号 = r - 该 batch 前缀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task id = (批内轮号 / 该 batch S1 块数) * k + (j-1)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第几列 = task id % 该 batch S2 块数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第几行 = (第几列 + 批内轮号) % 该 batch S1 块数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task id 超出该 batch 列数 → 本核本轮 idle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67512" y="4599431"/>
          <a:ext cx="8522206" cy="3657600"/>
        </p:xfrm>
        <a:graphic>
          <a:graphicData uri="http://schemas.openxmlformats.org/drawingml/2006/table">
            <a:tbl>
              <a:tblPr/>
              <a:tblGrid>
                <a:gridCol w="1051560"/>
                <a:gridCol w="3735323"/>
                <a:gridCol w="3735323"/>
              </a:tblGrid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1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3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4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5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6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空闲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7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空闲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67512" y="8531351"/>
            <a:ext cx="3657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为什么这样分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8860535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每个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有自己的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round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前缀，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批内仍按列私有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排；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9134855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核数超过本批列数时那一条核空转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——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变长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的代价。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2720" y="1847088"/>
            <a:ext cx="42976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格子里写什么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2720" y="217627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  = batch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2720" y="2432304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N2 = KV head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0" y="2688336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G  = GQA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里第几个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Q head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0" y="2944368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Q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行）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3200400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S2 = KV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345643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  = head dim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tile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内不切分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4187952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10332720" y="4590288"/>
          <a:ext cx="4297679" cy="1828800"/>
        </p:xfrm>
        <a:graphic>
          <a:graphicData uri="http://schemas.openxmlformats.org/drawingml/2006/table">
            <a:tbl>
              <a:tblPr/>
              <a:tblGrid>
                <a:gridCol w="3017520"/>
                <a:gridCol w="1280160"/>
              </a:tblGrid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每核独占的列数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10332720" y="6711696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同一形状下其它规则能不能用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10332720" y="7114032"/>
          <a:ext cx="4297680" cy="2852928"/>
        </p:xfrm>
        <a:graphic>
          <a:graphicData uri="http://schemas.openxmlformats.org/drawingml/2006/table">
            <a:tbl>
              <a:tblPr/>
              <a:tblGrid>
                <a:gridCol w="1188720"/>
                <a:gridCol w="768096"/>
                <a:gridCol w="2340864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规则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本形状下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条件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Swizzle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也能用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非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k ≤ m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Index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k=2 ≤ m=3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 Swizzle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本例非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Left-Up Causal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本例非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GQA Dense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g=1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667512" y="10259568"/>
            <a:ext cx="138988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每个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按自己的长度排轮次，短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不拖累长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；核数超过本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列数时会有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idle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7. TND Dense Swizzle ——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例子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两个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的网格大小不同：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batch1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是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3x2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块，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batch2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是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2x3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920240" y="2377440"/>
          <a:ext cx="1920239" cy="2560320"/>
        </p:xfrm>
        <a:graphic>
          <a:graphicData uri="http://schemas.openxmlformats.org/drawingml/2006/table">
            <a:tbl>
              <a:tblPr/>
              <a:tblGrid>
                <a:gridCol w="640080"/>
                <a:gridCol w="640080"/>
                <a:gridCol w="640080"/>
              </a:tblGrid>
              <a:tr h="64008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956816" y="1956816"/>
            <a:ext cx="1920239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298448" y="2377440"/>
            <a:ext cx="0" cy="2176272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39496" y="3328416"/>
            <a:ext cx="71323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1719072"/>
            <a:ext cx="1536192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920240" y="1408176"/>
            <a:ext cx="14630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S2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074920" y="2377440"/>
          <a:ext cx="2560320" cy="1920239"/>
        </p:xfrm>
        <a:graphic>
          <a:graphicData uri="http://schemas.openxmlformats.org/drawingml/2006/table">
            <a:tbl>
              <a:tblPr/>
              <a:tblGrid>
                <a:gridCol w="640080"/>
                <a:gridCol w="640080"/>
                <a:gridCol w="640080"/>
                <a:gridCol w="640080"/>
              </a:tblGrid>
              <a:tr h="64008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11149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5285232"/>
            <a:ext cx="67208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这个例子为什么是确定的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1920240" y="5687568"/>
          <a:ext cx="6355080" cy="1609344"/>
        </p:xfrm>
        <a:graphic>
          <a:graphicData uri="http://schemas.openxmlformats.org/drawingml/2006/table">
            <a:tbl>
              <a:tblPr/>
              <a:tblGrid>
                <a:gridCol w="2011680"/>
                <a:gridCol w="434340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性质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本例情形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任务不重复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不撞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各核的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互不相同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整列只归一条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9692640" y="2724912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9692640" y="3127248"/>
          <a:ext cx="4800600" cy="1207008"/>
        </p:xfrm>
        <a:graphic>
          <a:graphicData uri="http://schemas.openxmlformats.org/drawingml/2006/table">
            <a:tbl>
              <a:tblPr/>
              <a:tblGrid>
                <a:gridCol w="868680"/>
                <a:gridCol w="3931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  (B=2 S2=1)  (B=2 S2=3)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  (B=2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9692640" y="4681728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同一个值为什么会重复出现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9692640" y="5084064"/>
          <a:ext cx="4800600" cy="1645919"/>
        </p:xfrm>
        <a:graphic>
          <a:graphicData uri="http://schemas.openxmlformats.org/drawingml/2006/table">
            <a:tbl>
              <a:tblPr/>
              <a:tblGrid>
                <a:gridCol w="2057400"/>
                <a:gridCol w="2743200"/>
              </a:tblGrid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看到的现象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为什么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→ 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跨轮、跨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会重复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列内逐行走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→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每条列都要走一遍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(S2,S1)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双射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空泡不是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mask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=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没派活；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 =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派了不累加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1920240" y="7644384"/>
            <a:ext cx="63550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每核每轮守哪条列（表头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第几轮）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1920240" y="8046720"/>
          <a:ext cx="6355076" cy="877824"/>
        </p:xfrm>
        <a:graphic>
          <a:graphicData uri="http://schemas.openxmlformats.org/drawingml/2006/table">
            <a:tbl>
              <a:tblPr/>
              <a:tblGrid>
                <a:gridCol w="960120"/>
                <a:gridCol w="770708"/>
                <a:gridCol w="770708"/>
                <a:gridCol w="770708"/>
                <a:gridCol w="770708"/>
                <a:gridCol w="770708"/>
                <a:gridCol w="770708"/>
                <a:gridCol w="770708"/>
              </a:tblGrid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8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空闲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8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空闲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9692640" y="7168896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9692640" y="7571231"/>
          <a:ext cx="4800600" cy="2011680"/>
        </p:xfrm>
        <a:graphic>
          <a:graphicData uri="http://schemas.openxmlformats.org/drawingml/2006/table">
            <a:tbl>
              <a:tblPr/>
              <a:tblGrid>
                <a:gridCol w="3520440"/>
                <a:gridCol w="128016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每核独占的列数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667512" y="9436608"/>
            <a:ext cx="8869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每个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按自己的长度排轮次，短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不拖累长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；核数超过本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列数时会有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idle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灰格</a:t>
            </a:r>
            <a:r>
              <a:rPr sz="16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本轮无列可派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batch1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只有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列，第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4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轮只剩一条核有活）。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对比算法页的对照表：按最长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对齐要多花好几轮。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8. TND GQA Dense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：按面积展平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输入：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各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[2, 1] · S2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[2, 2] · GQA g=2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444752"/>
            <a:ext cx="1741170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layout TND (变长)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536698" y="1444752"/>
            <a:ext cx="2186940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causal（epilogue mask）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851654" y="1444752"/>
            <a:ext cx="730758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GQA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710428" y="1444752"/>
            <a:ext cx="188315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dk/dv 共享 workspace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" y="1847088"/>
            <a:ext cx="8778240" cy="3552444"/>
          </a:xfrm>
          <a:prstGeom prst="roundRect">
            <a:avLst>
              <a:gd name="adj" fmla="val 4000"/>
            </a:avLst>
          </a:prstGeom>
          <a:solidFill>
            <a:srgbClr val="F5F5F5"/>
          </a:solidFill>
          <a:ln w="9525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4592" rIns="164592" tIns="82296" bIns="82296"/>
          <a:lstStyle/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core 数 k=2, batch 数 b=2, g=2, 各 batch 长度不同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先算每 batch 的任务面积并累加: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面积 = 该 batch S1 块数 * S2 块数;  面积前缀 = 逐 batch 累加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例子: 面积前缀 [0, 4, 6]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总轮数 = max(ceil(总面积*head数*g/k), 最大S1块数*g, 最大S2块数) = 6</a:t>
            </a:r>
          </a:p>
          <a:p>
            <a:pPr algn="l">
              <a:lnSpc>
                <a:spcPct val="112800"/>
              </a:lnSpc>
            </a:pP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对每个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(round r, core j):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全局 task id = (j-1) * 总轮数 + r   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每条核独占一段，顺序扫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用面积前缀查出它属于哪个 batch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批内号 = 全局 task id - 该 batch 面积前缀 * (N2 数 * g)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片号   = ceil(批内号 / (m*n*g));  N2 = 片号 - 1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片内号 = 批内号 取模 (m*n*g)，得 0 时取满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第几列 = ceil(片内号 / (m*g))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第几组 = ceil( (片内号 取模 (m*g)) / m )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第几行 = (片内号 取模 (m*g)) 取模 m，得 0 时取 m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若 t1 &lt; n: 还有一步 gcd 对齐修正（本例不触发）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67512" y="5673851"/>
          <a:ext cx="8522206" cy="3200400"/>
        </p:xfrm>
        <a:graphic>
          <a:graphicData uri="http://schemas.openxmlformats.org/drawingml/2006/table">
            <a:tbl>
              <a:tblPr/>
              <a:tblGrid>
                <a:gridCol w="1051560"/>
                <a:gridCol w="3735323"/>
                <a:gridCol w="3735323"/>
              </a:tblGrid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1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3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 N2=1 G=1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4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 N2=1 G=2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5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 N2=1 G=1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6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 N2=1 G=2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67512" y="9148572"/>
            <a:ext cx="3657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为什么这样分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9477755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按面积前缀把任务空间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展平后等分成</a:t>
            </a:r>
            <a:r>
              <a:rPr sz="13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 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段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，每条核顺序扫自己那段；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9752076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不追求列私有，只保证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同轮各核的</a:t>
            </a:r>
            <a:r>
              <a:rPr sz="13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(B,N2,G,S1) 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互不相同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2720" y="1847088"/>
            <a:ext cx="42976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格子里写什么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2720" y="217627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  = batch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2720" y="2432304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N2 = KV head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0" y="2688336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G  = GQA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里第几个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Q head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0" y="2944368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Q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行）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3200400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S2 = KV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345643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  = head dim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tile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内不切分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4187952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10332720" y="4590288"/>
          <a:ext cx="4297679" cy="1463040"/>
        </p:xfrm>
        <a:graphic>
          <a:graphicData uri="http://schemas.openxmlformats.org/drawingml/2006/table">
            <a:tbl>
              <a:tblPr/>
              <a:tblGrid>
                <a:gridCol w="3017520"/>
                <a:gridCol w="1280160"/>
              </a:tblGrid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10332720" y="6345936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换成按最长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对齐（示意）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10332720" y="6748272"/>
          <a:ext cx="4297680" cy="1426464"/>
        </p:xfrm>
        <a:graphic>
          <a:graphicData uri="http://schemas.openxmlformats.org/drawingml/2006/table">
            <a:tbl>
              <a:tblPr/>
              <a:tblGrid>
                <a:gridCol w="1417320"/>
                <a:gridCol w="777240"/>
                <a:gridCol w="2103120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做法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总轮数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说明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本页规则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（逐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各按自己的长度排，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短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不被拖慢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按最长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对齐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（示意）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所有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按最长的排，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短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大量空转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10332720" y="8302752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10332720" y="8705088"/>
          <a:ext cx="4297680" cy="1097280"/>
        </p:xfrm>
        <a:graphic>
          <a:graphicData uri="http://schemas.openxmlformats.org/drawingml/2006/table">
            <a:tbl>
              <a:tblPr/>
              <a:tblGrid>
                <a:gridCol w="868680"/>
                <a:gridCol w="3429000"/>
              </a:tblGrid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  (B=1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  (B=2 S2=1)  (B=2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6" name="TextBox 25"/>
          <p:cNvSpPr txBox="1"/>
          <p:nvPr/>
        </p:nvSpPr>
        <p:spPr>
          <a:xfrm>
            <a:off x="667512" y="10259568"/>
            <a:ext cx="138988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变长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GQA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无法逐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对齐，直接把整个任务空间展平等分给各核，顺序扫过。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8. TND GQA Dense ——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例子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面积大的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分到的格子多；每个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(S1,S2)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格上有两个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的任务，按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拆图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920240" y="2377440"/>
          <a:ext cx="2560317" cy="2560317"/>
        </p:xfrm>
        <a:graphic>
          <a:graphicData uri="http://schemas.openxmlformats.org/drawingml/2006/table">
            <a:tbl>
              <a:tblPr/>
              <a:tblGrid>
                <a:gridCol w="853439"/>
                <a:gridCol w="853439"/>
                <a:gridCol w="853439"/>
              </a:tblGrid>
              <a:tr h="853439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95681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 N2=1 G=1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298448" y="2377440"/>
            <a:ext cx="0" cy="2048256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39496" y="3264408"/>
            <a:ext cx="71323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1719072"/>
            <a:ext cx="2048256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920240" y="1408176"/>
            <a:ext cx="14630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S2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715000" y="2377440"/>
          <a:ext cx="2560317" cy="2560317"/>
        </p:xfrm>
        <a:graphic>
          <a:graphicData uri="http://schemas.openxmlformats.org/drawingml/2006/table">
            <a:tbl>
              <a:tblPr/>
              <a:tblGrid>
                <a:gridCol w="853439"/>
                <a:gridCol w="853439"/>
                <a:gridCol w="853439"/>
              </a:tblGrid>
              <a:tr h="853439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75157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 N2=1 G=2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1920240" y="5989320"/>
          <a:ext cx="2560317" cy="1706878"/>
        </p:xfrm>
        <a:graphic>
          <a:graphicData uri="http://schemas.openxmlformats.org/drawingml/2006/table">
            <a:tbl>
              <a:tblPr/>
              <a:tblGrid>
                <a:gridCol w="853439"/>
                <a:gridCol w="853439"/>
                <a:gridCol w="853439"/>
              </a:tblGrid>
              <a:tr h="853439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1956816" y="556869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B=2 N2=1 G=1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5715000" y="5989320"/>
          <a:ext cx="2560317" cy="1706878"/>
        </p:xfrm>
        <a:graphic>
          <a:graphicData uri="http://schemas.openxmlformats.org/drawingml/2006/table">
            <a:tbl>
              <a:tblPr/>
              <a:tblGrid>
                <a:gridCol w="853439"/>
                <a:gridCol w="853439"/>
                <a:gridCol w="853439"/>
              </a:tblGrid>
              <a:tr h="853439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5751576" y="556869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B=2 N2=1 G=2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92640" y="2724912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这个例子为什么是确定的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9692640" y="3127248"/>
          <a:ext cx="4800600" cy="1609344"/>
        </p:xfrm>
        <a:graphic>
          <a:graphicData uri="http://schemas.openxmlformats.org/drawingml/2006/table">
            <a:tbl>
              <a:tblPr/>
              <a:tblGrid>
                <a:gridCol w="2011680"/>
                <a:gridCol w="2788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性质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本例情形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任务不重复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不撞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各核的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互不相同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—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不适用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9692640" y="5084064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9692640" y="5486400"/>
          <a:ext cx="4800600" cy="1207008"/>
        </p:xfrm>
        <a:graphic>
          <a:graphicData uri="http://schemas.openxmlformats.org/drawingml/2006/table">
            <a:tbl>
              <a:tblPr/>
              <a:tblGrid>
                <a:gridCol w="868680"/>
                <a:gridCol w="3931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  (B=1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  (B=2 S2=1)  (B=2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9692640" y="7040879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同一个值为什么会重复出现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9692640" y="7443215"/>
          <a:ext cx="4800600" cy="1645919"/>
        </p:xfrm>
        <a:graphic>
          <a:graphicData uri="http://schemas.openxmlformats.org/drawingml/2006/table">
            <a:tbl>
              <a:tblPr/>
              <a:tblGrid>
                <a:gridCol w="2057400"/>
                <a:gridCol w="2743200"/>
              </a:tblGrid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看到的现象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为什么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→ 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跨轮、跨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会重复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列内逐行走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→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每条列都要走一遍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一条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KV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g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份贡献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不保证同核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→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共享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workspace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(S2,S1)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只出现一次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双射：每个块只被派一次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667512" y="9436608"/>
            <a:ext cx="8869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变长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GQA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无法逐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对齐，直接把整个任务空间展平等分给各核，顺序扫过。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四个小块合起来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12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个任务，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条核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x 6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轮扫完，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零</a:t>
            </a:r>
            <a:r>
              <a:rPr sz="16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idle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batch2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只有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1x2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块，所以它那两张图更矮。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9.1.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性能对比：确定性开销（小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shape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倍率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det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核时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/ nd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核时（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&gt; 1 = det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更慢）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小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shape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组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msprof kernel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时间（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device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侧），非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event record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1572768"/>
            <a:ext cx="13898880" cy="480917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67512" y="6492239"/>
            <a:ext cx="138988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横轴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case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序号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·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数据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size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MB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bf16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：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q/out/dout + k/v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倍率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det / nd ·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虚线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1.0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；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shape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见下表；核时为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msprof Task Duration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最小值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67512" y="7059167"/>
          <a:ext cx="6537960" cy="2944368"/>
        </p:xfrm>
        <a:graphic>
          <a:graphicData uri="http://schemas.openxmlformats.org/drawingml/2006/table">
            <a:tbl>
              <a:tblPr/>
              <a:tblGrid>
                <a:gridCol w="493776"/>
                <a:gridCol w="4114800"/>
                <a:gridCol w="960120"/>
                <a:gridCol w="969264"/>
              </a:tblGrid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90" b="0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shape (b n g s2 s1 d c/nc)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det/nd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det/nd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n2 g1 s2=128 s1=128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1.62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0.99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n2 g1 s2=128 s1=128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1.23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1.00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n2 g2 s2=300 s1=200 d64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1.21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1.31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n1 g4 s2=500 s1=300 d64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1.46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n4 g1 s2=77 s1=33 d64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1.37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0.99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GM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1.30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434072" y="7059167"/>
          <a:ext cx="6537960" cy="3785616"/>
        </p:xfrm>
        <a:graphic>
          <a:graphicData uri="http://schemas.openxmlformats.org/drawingml/2006/table">
            <a:tbl>
              <a:tblPr/>
              <a:tblGrid>
                <a:gridCol w="493776"/>
                <a:gridCol w="4114800"/>
                <a:gridCol w="960120"/>
                <a:gridCol w="969264"/>
              </a:tblGrid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90" b="0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shape (b n g s2 s1 d c/nc)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det/nd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det/nd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n4 g1 s2=256+384 s1=256+384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1.42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1.50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n4 g1 s2=256+384 s1=256+384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1.58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1.47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n1 g4 s2=300+1300 s1=100+800 d64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0.91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2.55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n1 g4 s2=300+400 s1=100+800 d64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1.06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2.39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n4 g1 s2=300+400 s1=100+800 d64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0.97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1.40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n2 g2 s2=768+1280 s1=512+1024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1.80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n2 g2 s2=768+1280 s1=512+1024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GM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1.09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1.70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67512" y="10186415"/>
            <a:ext cx="6537960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结论：小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shape 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上本仓库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det/nd = 1.30×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BSND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/ 1.09×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TND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）；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opst 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为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1.13× / 1.70×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9.2.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性能对比：确定性开销（中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shape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倍率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det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核时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/ nd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核时（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&gt; 1 = det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更慢）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中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shape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组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msprof kernel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时间（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device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侧），非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event record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1572768"/>
            <a:ext cx="13898880" cy="38404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67512" y="5522976"/>
            <a:ext cx="138988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横轴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case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序号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·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数据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size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MB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bf16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：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q/out/dout + k/v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倍率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det / nd ·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虚线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1.0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；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shape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见下表；核时为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msprof Task Duration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最小值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67512" y="6089904"/>
          <a:ext cx="6537960" cy="4754867"/>
        </p:xfrm>
        <a:graphic>
          <a:graphicData uri="http://schemas.openxmlformats.org/drawingml/2006/table">
            <a:tbl>
              <a:tblPr/>
              <a:tblGrid>
                <a:gridCol w="493776"/>
                <a:gridCol w="4114800"/>
                <a:gridCol w="960120"/>
                <a:gridCol w="969264"/>
              </a:tblGrid>
              <a:tr h="365759">
                <a:tc>
                  <a:txBody>
                    <a:bodyPr wrap="none"/>
                    <a:lstStyle/>
                    <a:p>
                      <a:pPr algn="ctr"/>
                      <a:r>
                        <a:rPr sz="1069" b="0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6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shape (b n g s2 s1 d c/nc)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6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det/nd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6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det/nd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59"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n8 g1 s2=1024 s1=1024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1.21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1.30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59"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n8 g1 s2=1024 s1=1024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1.31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1.22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59"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n4 g1 s2=777 s1=333 d64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1.24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59"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n4 g1 s2=333 s1=777 d64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1.05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59"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n2 g4 s2=1024 s1=1024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1.21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1.79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59"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n2 g4 s2=1024 s1=1024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1.07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1.34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59"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n1 g4 s2=500 s1=300 d64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1.22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1.55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59"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n1 g4 s2=500 s1=300 d64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1.52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59"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n3 g2 s2=900 s1=500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1.20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59"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n3 g2 s2=900 s1=500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1.07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1.08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59"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n3 g2 s2=333 s1=777 d64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1.20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59"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GM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1.29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434072" y="6089904"/>
          <a:ext cx="6537960" cy="2926072"/>
        </p:xfrm>
        <a:graphic>
          <a:graphicData uri="http://schemas.openxmlformats.org/drawingml/2006/table">
            <a:tbl>
              <a:tblPr/>
              <a:tblGrid>
                <a:gridCol w="493776"/>
                <a:gridCol w="4114800"/>
                <a:gridCol w="960120"/>
                <a:gridCol w="969264"/>
              </a:tblGrid>
              <a:tr h="365759">
                <a:tc>
                  <a:txBody>
                    <a:bodyPr wrap="none"/>
                    <a:lstStyle/>
                    <a:p>
                      <a:pPr algn="ctr"/>
                      <a:r>
                        <a:rPr sz="1069" b="0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6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shape (b n g s2 s1 d c/nc)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6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det/nd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6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det/nd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59"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n8 g1 s2=2048 s1=2048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1.43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1.39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59"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n8 g1 s2=2048 s1=2048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1.33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59"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n2 g4 s2=1024 s1=1024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0.95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1.39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59"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n2 g4 s2=1024 s1=1024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0.87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1.04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59"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b8 n8 g1 s2=512 s1=512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1.25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1.77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59"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b8 n8 g1 s2=512 s1=512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1.84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1.35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59"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GM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1.24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1.32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434072" y="9198863"/>
            <a:ext cx="653796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结论：中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shape 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上本仓库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det/nd = 1.17×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BSND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/ 1.24×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TND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）；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opst 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为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1.29× / 1.32×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9.3.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性能对比：确定性开销（大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shape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倍率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det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核时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/ nd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核时（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&gt; 1 = det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更慢）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大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shape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组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msprof kernel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时间（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device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侧），非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event record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1572768"/>
            <a:ext cx="13898880" cy="5486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67512" y="7168896"/>
            <a:ext cx="138988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横轴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case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序号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·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数据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size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MB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bf16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：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q/out/dout + k/v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倍率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det / nd ·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虚线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1.0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；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shape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见下表；核时为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msprof Task Duration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最小值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67512" y="7735823"/>
          <a:ext cx="6537960" cy="2944368"/>
        </p:xfrm>
        <a:graphic>
          <a:graphicData uri="http://schemas.openxmlformats.org/drawingml/2006/table">
            <a:tbl>
              <a:tblPr/>
              <a:tblGrid>
                <a:gridCol w="493776"/>
                <a:gridCol w="4114800"/>
                <a:gridCol w="960120"/>
                <a:gridCol w="969264"/>
              </a:tblGrid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90" b="0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shape (b n g s2 s1 d c/nc)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det/nd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det/nd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n8 g1 s2=2048 s1=2048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1.28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n8 g1 s2=2048 s1=2048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1.43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n2 g4 s2=2048 s1=2048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1.36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1.49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n4 g1 s2=4096 s1=4096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1.33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1.09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n4 g1 s2=4096 s1=4096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1.22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1.08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GM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1.32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434072" y="7735823"/>
          <a:ext cx="6537960" cy="2523744"/>
        </p:xfrm>
        <a:graphic>
          <a:graphicData uri="http://schemas.openxmlformats.org/drawingml/2006/table">
            <a:tbl>
              <a:tblPr/>
              <a:tblGrid>
                <a:gridCol w="493776"/>
                <a:gridCol w="4114800"/>
                <a:gridCol w="960120"/>
                <a:gridCol w="969264"/>
              </a:tblGrid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90" b="0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shape (b n g s2 s1 d c/nc)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det/nd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det/nd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b4 n4 g1 s2=2048 s1=2048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1.20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1.44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n4 g1 s2=4096 s1=4096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b4 n2 g4 s2=1024 s1=1024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1.06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1.30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b4 n1 g4 s2=2048 s1=2048 d64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1.46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1.41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GM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1.21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1.32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434072" y="10442447"/>
            <a:ext cx="65379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结论：大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shape 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上本仓库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det/nd = 1.32×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BSND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/ 1.21×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TND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）；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opst 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为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1.18× / 1.32×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9.4.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性能对比：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det-vs-det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（小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shape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比值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opst-det /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本仓库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-det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≥ 0.8 =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达标）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小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shape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组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核时为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msprof kernel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时间（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device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侧）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1572768"/>
            <a:ext cx="13898880" cy="43891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67512" y="6071615"/>
            <a:ext cx="138988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横轴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case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序号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·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数据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size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MB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bf16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：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q/out/dout + k/v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虚线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0.8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目标线；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&lt; 0.8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的柱标灰；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shape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见下表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67512" y="6638543"/>
          <a:ext cx="6537960" cy="3364992"/>
        </p:xfrm>
        <a:graphic>
          <a:graphicData uri="http://schemas.openxmlformats.org/drawingml/2006/table">
            <a:tbl>
              <a:tblPr/>
              <a:tblGrid>
                <a:gridCol w="493776"/>
                <a:gridCol w="3090672"/>
                <a:gridCol w="978408"/>
                <a:gridCol w="978408"/>
                <a:gridCol w="996696"/>
              </a:tblGrid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90" b="0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shape (b n g s2 s1 d c/nc)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ratio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n2 g1 s2=128 s1=128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23.5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0.43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n2 g1 s2=128 s1=128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n2 g2 s2=300 s1=200 d64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23.9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25.0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1.05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n1 g4 s2=500 s1=300 d64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33.9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33.2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0.98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n4 g1 s2=77 s1=33 d64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19.1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0.45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GM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23.1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pass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40%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434072" y="6638543"/>
          <a:ext cx="6537960" cy="4206240"/>
        </p:xfrm>
        <a:graphic>
          <a:graphicData uri="http://schemas.openxmlformats.org/drawingml/2006/table">
            <a:tbl>
              <a:tblPr/>
              <a:tblGrid>
                <a:gridCol w="493776"/>
                <a:gridCol w="3090672"/>
                <a:gridCol w="978408"/>
                <a:gridCol w="978408"/>
                <a:gridCol w="996696"/>
              </a:tblGrid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90" b="0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shape (b n g s2 s1 d c/nc)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ratio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n4 g1 s2=256+384 s1=256+384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29.2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37.0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1.27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n4 g1 s2=256+384 s1=256+384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35.5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35.7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1.01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n1 g4 s2=300+1300 s1=100+800 d64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55.3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71.2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1.29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n1 g4 s2=300+400 s1=100+800 d64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52.5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61.3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n4 g1 s2=300+400 s1=100+800 d64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33.1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37.4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n2 g2 s2=768+1280 s1=512+1024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63.5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65.2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1.03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n2 g2 s2=768+1280 s1=512+1024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66.4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58.1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0.88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GM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45.8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50.3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pass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100%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67512" y="10186415"/>
            <a:ext cx="6537960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结论：小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shape 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的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det 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比值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0.64×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BSND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/ 1.10×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TND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）；达标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40% / 100%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9.5.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性能对比：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det-vs-det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（中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shape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比值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opst-det /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本仓库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-det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≥ 0.8 =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达标）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中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shape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组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核时为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msprof kernel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时间（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device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侧）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1572768"/>
            <a:ext cx="13898880" cy="38404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67512" y="5522976"/>
            <a:ext cx="138988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横轴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case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序号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·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数据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size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MB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bf16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：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q/out/dout + k/v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虚线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0.8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目标线；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&lt; 0.8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的柱标灰；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shape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见下表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67512" y="6089904"/>
          <a:ext cx="6537960" cy="4754876"/>
        </p:xfrm>
        <a:graphic>
          <a:graphicData uri="http://schemas.openxmlformats.org/drawingml/2006/table">
            <a:tbl>
              <a:tblPr/>
              <a:tblGrid>
                <a:gridCol w="493776"/>
                <a:gridCol w="3090672"/>
                <a:gridCol w="978408"/>
                <a:gridCol w="978408"/>
                <a:gridCol w="996696"/>
              </a:tblGrid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1040" b="0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4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shape (b n g s2 s1 d c/nc)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4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4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4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ratio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n8 g1 s2=1024 s1=1024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74.4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59.5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0.80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n8 g1 s2=1024 s1=1024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107.3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70.2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n4 g1 s2=777 s1=333 d64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37.7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25.2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n4 g1 s2=333 s1=777 d64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36.5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26.7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n2 g4 s2=1024 s1=1024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98.1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75.9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n2 g4 s2=1024 s1=1024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103.3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73.2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n1 g4 s2=500 s1=300 d64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35.6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33.1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0.93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n1 g4 s2=500 s1=300 d64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33.8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33.1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0.98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n3 g2 s2=900 s1=500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65.2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37.2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n3 g2 s2=900 s1=500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64.3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50.2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n3 g2 s2=333 s1=777 d64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42.0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35.2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0.84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GM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57.7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43.8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pass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27%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434072" y="6089904"/>
          <a:ext cx="6537960" cy="3056706"/>
        </p:xfrm>
        <a:graphic>
          <a:graphicData uri="http://schemas.openxmlformats.org/drawingml/2006/table">
            <a:tbl>
              <a:tblPr/>
              <a:tblGrid>
                <a:gridCol w="493776"/>
                <a:gridCol w="3090672"/>
                <a:gridCol w="978408"/>
                <a:gridCol w="978408"/>
                <a:gridCol w="996696"/>
              </a:tblGrid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1040" b="0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4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shape (b n g s2 s1 d c/nc)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4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4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4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ratio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n8 g1 s2=2048 s1=2048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379.4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252.6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n8 g1 s2=2048 s1=2048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594.9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365.5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n2 g4 s2=1024 s1=1024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112.9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88.1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n2 g4 s2=1024 s1=1024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145.1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91.0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b8 n8 g1 s2=512 s1=512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180.5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140.9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b8 n8 g1 s2=512 s1=512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301.4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180.9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GM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242.1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163.2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pass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0%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434072" y="9329492"/>
            <a:ext cx="653796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结论：中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shape 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的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det 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比值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0.76×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BSND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/ 0.67×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TND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）；达标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27% / 0%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9.6.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性能对比：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det-vs-det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（大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shape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比值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opst-det /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本仓库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-det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≥ 0.8 =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达标）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大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shape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组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核时为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msprof kernel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时间（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device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侧）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1572768"/>
            <a:ext cx="13898880" cy="522922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67512" y="6912863"/>
            <a:ext cx="138988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横轴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case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序号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·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数据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size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MB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bf16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：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q/out/dout + k/v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虚线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0.8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目标线；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&lt; 0.8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的柱标灰；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shape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见下表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67512" y="7479792"/>
          <a:ext cx="6537960" cy="3364984"/>
        </p:xfrm>
        <a:graphic>
          <a:graphicData uri="http://schemas.openxmlformats.org/drawingml/2006/table">
            <a:tbl>
              <a:tblPr/>
              <a:tblGrid>
                <a:gridCol w="493776"/>
                <a:gridCol w="3090672"/>
                <a:gridCol w="978408"/>
                <a:gridCol w="978408"/>
                <a:gridCol w="996696"/>
              </a:tblGrid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189" b="0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8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shape (b n g s2 s1 d c/nc)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8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8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8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ratio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n8 g1 s2=2048 s1=2048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183.8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118.3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n8 g1 s2=2048 s1=2048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317.1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176.7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n2 g4 s2=2048 s1=2048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247.5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140.0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n4 g1 s2=4096 s1=4096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329.4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177.7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n4 g1 s2=4096 s1=4096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540.7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300.7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GM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303.4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173.3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pass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0%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434072" y="7479792"/>
          <a:ext cx="6537960" cy="2944361"/>
        </p:xfrm>
        <a:graphic>
          <a:graphicData uri="http://schemas.openxmlformats.org/drawingml/2006/table">
            <a:tbl>
              <a:tblPr/>
              <a:tblGrid>
                <a:gridCol w="493776"/>
                <a:gridCol w="3090672"/>
                <a:gridCol w="978408"/>
                <a:gridCol w="978408"/>
                <a:gridCol w="996696"/>
              </a:tblGrid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189" b="0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8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shape (b n g s2 s1 d c/nc)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8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8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8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ratio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b4 n4 g1 s2=2048 s1=2048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326.0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249.0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n4 g1 s2=4096 s1=4096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529.1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304.3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b4 n2 g4 s2=1024 s1=1024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210.9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143.7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b4 n1 g4 s2=2048 s1=2048 d64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278.2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185.5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GM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317.2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212.0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pass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0%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434072" y="10607039"/>
            <a:ext cx="653796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结论：大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shape 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的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det 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比值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0.57×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BSND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/ 0.67×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TND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）；达标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0% / 0%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9.7.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性能对比：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nd-vs-nd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（小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shape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比值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opst-nd /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本仓库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-nd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≥ 0.8 =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达标）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小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shape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组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核时为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msprof kernel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时间（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device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侧）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1572768"/>
            <a:ext cx="13898880" cy="43891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67512" y="6071615"/>
            <a:ext cx="138988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横轴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case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序号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·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数据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size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MB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bf16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：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q/out/dout + k/v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虚线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0.8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；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&lt; 0.8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标灰；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shape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见下表；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nd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差距是既有主流水问题，与确定性重构无关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67512" y="6638543"/>
          <a:ext cx="6537960" cy="3364992"/>
        </p:xfrm>
        <a:graphic>
          <a:graphicData uri="http://schemas.openxmlformats.org/drawingml/2006/table">
            <a:tbl>
              <a:tblPr/>
              <a:tblGrid>
                <a:gridCol w="493776"/>
                <a:gridCol w="3090672"/>
                <a:gridCol w="978408"/>
                <a:gridCol w="978408"/>
                <a:gridCol w="996696"/>
              </a:tblGrid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90" b="0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shape (b n g s2 s1 d c/nc)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ratio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n2 g1 s2=128 s1=128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n2 g1 s2=128 s1=128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n2 g2 s2=300 s1=200 d64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19.8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19.1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0.96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n1 g4 s2=500 s1=300 d64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30.7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22.7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n4 g1 s2=77 s1=33 d64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13.9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GM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17.8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13.0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pass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20%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434072" y="6638543"/>
          <a:ext cx="6537960" cy="4206240"/>
        </p:xfrm>
        <a:graphic>
          <a:graphicData uri="http://schemas.openxmlformats.org/drawingml/2006/table">
            <a:tbl>
              <a:tblPr/>
              <a:tblGrid>
                <a:gridCol w="493776"/>
                <a:gridCol w="3090672"/>
                <a:gridCol w="978408"/>
                <a:gridCol w="978408"/>
                <a:gridCol w="996696"/>
              </a:tblGrid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90" b="0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shape (b n g s2 s1 d c/nc)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ratio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n4 g1 s2=256+384 s1=256+384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20.6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24.6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n4 g1 s2=256+384 s1=256+384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22.4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24.3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1.08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n1 g4 s2=300+1300 s1=100+800 d64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60.7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27.9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0.46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n1 g4 s2=300+400 s1=100+800 d64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49.7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25.6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n4 g1 s2=300+400 s1=100+800 d64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34.0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26.8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n2 g2 s2=768+1280 s1=512+1024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53.4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36.2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n2 g2 s2=768+1280 s1=512+1024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88.6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49.0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GM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41.8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29.7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pass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29%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67512" y="10186415"/>
            <a:ext cx="6537960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结论：小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shape 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的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nd 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比值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0.73×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BSND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/ 0.71×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TND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）；差距来自既有主流水。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9.8.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性能对比：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nd-vs-nd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（中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shape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比值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opst-nd /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本仓库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-nd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≥ 0.8 =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达标）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中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shape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组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核时为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msprof kernel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时间（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device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侧）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1572768"/>
            <a:ext cx="13898880" cy="38404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67512" y="5522976"/>
            <a:ext cx="138988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横轴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case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序号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·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数据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size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MB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bf16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：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q/out/dout + k/v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虚线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0.8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；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&lt; 0.8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标灰；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shape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见下表；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nd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差距是既有主流水问题，与确定性重构无关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67512" y="6089904"/>
          <a:ext cx="6537960" cy="4754876"/>
        </p:xfrm>
        <a:graphic>
          <a:graphicData uri="http://schemas.openxmlformats.org/drawingml/2006/table">
            <a:tbl>
              <a:tblPr/>
              <a:tblGrid>
                <a:gridCol w="493776"/>
                <a:gridCol w="3090672"/>
                <a:gridCol w="978408"/>
                <a:gridCol w="978408"/>
                <a:gridCol w="996696"/>
              </a:tblGrid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1040" b="0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4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shape (b n g s2 s1 d c/nc)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4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4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4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ratio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n8 g1 s2=1024 s1=1024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61.6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45.8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n8 g1 s2=1024 s1=1024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82.1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57.5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n4 g1 s2=777 s1=333 d64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30.4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22.1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n4 g1 s2=333 s1=777 d64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32.4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25.4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n2 g4 s2=1024 s1=1024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81.1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42.3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n2 g4 s2=1024 s1=1024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96.3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54.5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n1 g4 s2=500 s1=300 d64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29.3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21.3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n1 g4 s2=500 s1=300 d64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29.6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21.8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n3 g2 s2=900 s1=500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55.3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31.1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n3 g2 s2=900 s1=500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60.0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46.6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n3 g2 s2=333 s1=777 d64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37.7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29.4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GM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49.3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33.9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pass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0%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434072" y="6089904"/>
          <a:ext cx="6537960" cy="3056706"/>
        </p:xfrm>
        <a:graphic>
          <a:graphicData uri="http://schemas.openxmlformats.org/drawingml/2006/table">
            <a:tbl>
              <a:tblPr/>
              <a:tblGrid>
                <a:gridCol w="493776"/>
                <a:gridCol w="3090672"/>
                <a:gridCol w="978408"/>
                <a:gridCol w="978408"/>
                <a:gridCol w="996696"/>
              </a:tblGrid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1040" b="0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4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shape (b n g s2 s1 d c/nc)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4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4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4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ratio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n8 g1 s2=2048 s1=2048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265.0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181.3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n8 g1 s2=2048 s1=2048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446.4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332.9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n2 g4 s2=1024 s1=1024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118.8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63.3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n2 g4 s2=1024 s1=1024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167.3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87.8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b8 n8 g1 s2=512 s1=512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144.8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79.5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b8 n8 g1 s2=512 s1=512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164.2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134.1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0.82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GM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195.5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123.7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pass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17%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434072" y="9329492"/>
            <a:ext cx="653796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结论：中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shape 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的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nd 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比值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0.69×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BSND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/ 0.63×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TND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）；差距来自既有主流水。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9.9.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性能对比：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nd-vs-nd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（大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shape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比值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opst-nd /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本仓库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-nd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≥ 0.8 =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达标）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大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shape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组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核时为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msprof kernel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时间（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device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侧）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1572768"/>
            <a:ext cx="13898880" cy="522922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67512" y="6912863"/>
            <a:ext cx="138988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横轴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case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序号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·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数据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size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MB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bf16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：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q/out/dout + k/v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虚线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0.8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；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&lt; 0.8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标灰；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shape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见下表；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nd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差距是既有主流水问题，与确定性重构无关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67512" y="7479792"/>
          <a:ext cx="6537960" cy="3364984"/>
        </p:xfrm>
        <a:graphic>
          <a:graphicData uri="http://schemas.openxmlformats.org/drawingml/2006/table">
            <a:tbl>
              <a:tblPr/>
              <a:tblGrid>
                <a:gridCol w="493776"/>
                <a:gridCol w="3090672"/>
                <a:gridCol w="978408"/>
                <a:gridCol w="978408"/>
                <a:gridCol w="996696"/>
              </a:tblGrid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189" b="0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8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shape (b n g s2 s1 d c/nc)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8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8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8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ratio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n8 g1 s2=2048 s1=2048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143.2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103.4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n8 g1 s2=2048 s1=2048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222.2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154.4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n2 g4 s2=2048 s1=2048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182.5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94.1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n4 g1 s2=4096 s1=4096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247.9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163.2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n4 g1 s2=4096 s1=4096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444.5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277.3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GM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229.7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146.7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pass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0%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434072" y="7479792"/>
          <a:ext cx="6537960" cy="2944361"/>
        </p:xfrm>
        <a:graphic>
          <a:graphicData uri="http://schemas.openxmlformats.org/drawingml/2006/table">
            <a:tbl>
              <a:tblPr/>
              <a:tblGrid>
                <a:gridCol w="493776"/>
                <a:gridCol w="3090672"/>
                <a:gridCol w="978408"/>
                <a:gridCol w="978408"/>
                <a:gridCol w="996696"/>
              </a:tblGrid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189" b="0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8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shape (b n g s2 s1 d c/nc)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8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8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8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ratio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b4 n4 g1 s2=2048 s1=2048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271.9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172.4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n4 g1 s2=4096 s1=4096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458.8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269.5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b4 n2 g4 s2=1024 s1=1024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198.2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110.4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b4 n1 g4 s2=2048 s1=2048 d64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190.2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131.5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GM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261.9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161.2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pass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0%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434072" y="10607039"/>
            <a:ext cx="653796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结论：大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shape 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的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nd 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比值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0.64×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BSND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/ 0.62×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TND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）；差距来自既有主流水。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9.10.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全矩阵明细：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BSND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（核时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μs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min of 25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21 case ·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本仓库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det/nd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与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opst det/nd · ratio = opst /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本仓库（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≥ 0.8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达标）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msprof device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侧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kernel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时间（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Task Duration min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空缺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参考实现无法运行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67512" y="1572768"/>
          <a:ext cx="13304519" cy="8531336"/>
        </p:xfrm>
        <a:graphic>
          <a:graphicData uri="http://schemas.openxmlformats.org/drawingml/2006/table">
            <a:tbl>
              <a:tblPr/>
              <a:tblGrid>
                <a:gridCol w="475488"/>
                <a:gridCol w="3749039"/>
                <a:gridCol w="1517904"/>
                <a:gridCol w="1517904"/>
                <a:gridCol w="1517904"/>
                <a:gridCol w="1517904"/>
                <a:gridCol w="1517904"/>
                <a:gridCol w="1490472"/>
              </a:tblGrid>
              <a:tr h="387788">
                <a:tc>
                  <a:txBody>
                    <a:bodyPr wrap="none"/>
                    <a:lstStyle/>
                    <a:p>
                      <a:pPr algn="ctr"/>
                      <a:r>
                        <a:rPr sz="1077" b="0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7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shape (b n g s2 s1 d c/nc)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7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7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7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7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7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det ratio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7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nd ratio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87788"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n2 g1 s2=128 s1=128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23.5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0.43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87788"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n2 g1 s2=128 s1=128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87788"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n2 g2 s2=300 s1=200 d64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23.9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19.8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25.0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19.1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1.05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0.96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87788"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n1 g4 s2=500 s1=300 d64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33.9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30.7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33.2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22.7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0.98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87788"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n4 g1 s2=77 s1=33 d64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19.1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13.9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0.45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87788"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n8 g1 s2=1024 s1=1024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74.4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61.6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59.5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45.8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0.80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87788"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n8 g1 s2=1024 s1=1024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107.3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82.1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70.2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57.5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87788"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n4 g1 s2=777 s1=333 d64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37.7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30.4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25.2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22.1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87788"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n4 g1 s2=333 s1=777 d64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36.5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32.4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26.7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25.4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87788"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n2 g4 s2=1024 s1=1024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98.1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81.1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75.9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42.3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87788"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n2 g4 s2=1024 s1=1024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103.3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96.3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73.2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54.5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87788"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n1 g4 s2=500 s1=300 d64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35.6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29.3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33.1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21.3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0.93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87788"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n1 g4 s2=500 s1=300 d64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33.8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29.6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33.1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21.8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0.98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87788"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n3 g2 s2=900 s1=500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65.2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55.3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37.2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31.1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87788"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n3 g2 s2=900 s1=500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64.3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60.0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50.2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46.6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87788"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n3 g2 s2=333 s1=777 d64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42.0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37.7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35.2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29.4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0.84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87788"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n8 g1 s2=2048 s1=2048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183.8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143.2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118.3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103.4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87788"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n8 g1 s2=2048 s1=2048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317.1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222.2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176.7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154.4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87788"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n2 g4 s2=2048 s1=2048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247.5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182.5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140.0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94.1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87788"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n4 g1 s2=4096 s1=4096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329.4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247.9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177.7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163.2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87788"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n4 g1 s2=4096 s1=4096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540.7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444.5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300.7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277.3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67512" y="10268712"/>
            <a:ext cx="138988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数值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= msprof Task Duration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最小值（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device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侧核时），非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event record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；空缺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= opst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无法运行（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TND causal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要求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mask Skv=2048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）。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9.11.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全矩阵明细：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TND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（核时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μs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min of 25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17 case ·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本仓库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det/nd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与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opst det/nd · ratio = opst /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本仓库（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≥ 0.8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达标）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msprof device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侧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kernel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时间（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Task Duration min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空缺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参考实现无法运行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67512" y="1572768"/>
          <a:ext cx="13304519" cy="8412480"/>
        </p:xfrm>
        <a:graphic>
          <a:graphicData uri="http://schemas.openxmlformats.org/drawingml/2006/table">
            <a:tbl>
              <a:tblPr/>
              <a:tblGrid>
                <a:gridCol w="475488"/>
                <a:gridCol w="3749039"/>
                <a:gridCol w="1517904"/>
                <a:gridCol w="1517904"/>
                <a:gridCol w="1517904"/>
                <a:gridCol w="1517904"/>
                <a:gridCol w="1517904"/>
                <a:gridCol w="1490472"/>
              </a:tblGrid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64" b="0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6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shape (b n g s2 s1 d c/nc)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6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6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6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6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6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det ratio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6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nd ratio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n4 g1 s2=256+384 s1=256+384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29.2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20.6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37.0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24.6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1.27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n4 g1 s2=256+384 s1=256+384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35.5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22.4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35.7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24.3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1.01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1.08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n1 g4 s2=300+1300 s1=100+800 d64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55.3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60.7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71.2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27.9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1.29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0.46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n1 g4 s2=300+400 s1=100+800 d64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52.5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49.7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61.3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25.6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n4 g1 s2=300+400 s1=100+800 d64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33.1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34.0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37.4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26.8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n2 g2 s2=768+1280 s1=512+1024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63.5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53.4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65.2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36.2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1.03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n2 g2 s2=768+1280 s1=512+1024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66.4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88.6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58.1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49.0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0.88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n8 g1 s2=2048 s1=2048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379.4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265.0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252.6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181.3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n8 g1 s2=2048 s1=2048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594.9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446.4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365.5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332.9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n2 g4 s2=1024 s1=1024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112.9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118.8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88.1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63.3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n2 g4 s2=1024 s1=1024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145.1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167.3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91.0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87.8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b8 n8 g1 s2=512 s1=512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180.5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144.8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140.9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79.5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b8 n8 g1 s2=512 s1=512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301.4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164.2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180.9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134.1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0.82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b4 n4 g1 s2=2048 s1=2048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326.0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271.9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249.0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172.4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n4 g1 s2=4096 s1=4096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529.1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458.8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304.3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269.5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b4 n2 g4 s2=1024 s1=1024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210.9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198.2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143.7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110.4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b4 n1 g4 s2=2048 s1=2048 d64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278.2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190.2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185.5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131.5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GM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129.9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111.0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106.9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73.1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0.82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pass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41%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18%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67512" y="10149840"/>
            <a:ext cx="138988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数值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= msprof Task Duration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最小值（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device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侧核时），非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event record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；空缺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= opst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无法运行（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TND causal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要求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mask Skv=2048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）。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10.1. Profiling · BSND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0.26MB → 41.9MB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，五档典型案例）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52144"/>
            <a:ext cx="1389888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device </a:t>
            </a:r>
            <a:r>
              <a:rPr sz="12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侧用时</a:t>
            </a:r>
            <a:r>
              <a:rPr sz="12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µs</a:t>
            </a:r>
            <a:r>
              <a:rPr sz="12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；</a:t>
            </a:r>
            <a:r>
              <a:rPr sz="12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duration = Task Duration</a:t>
            </a:r>
            <a:r>
              <a:rPr sz="12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；</a:t>
            </a:r>
            <a:r>
              <a:rPr sz="12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MAC / MTE2 / MTE1 / fixpipe = cube </a:t>
            </a:r>
            <a:r>
              <a:rPr sz="12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侧各口；</a:t>
            </a:r>
            <a:r>
              <a:rPr sz="12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scal_c / scal_v = AIC / AIV </a:t>
            </a:r>
            <a:r>
              <a:rPr sz="12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标量口（解码、循环、同步）；</a:t>
            </a:r>
            <a:r>
              <a:rPr sz="12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vec = AIV </a:t>
            </a:r>
            <a:r>
              <a:rPr sz="12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向量；</a:t>
            </a:r>
            <a:r>
              <a:rPr sz="12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cube% = cube </a:t>
            </a:r>
            <a:r>
              <a:rPr sz="12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利用率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609344"/>
            <a:ext cx="1371600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0.26MB 2×33×77 H4/4 D64 c · 0.33MB 1×128×128 H2/2 D128 c · 0.92MB 2×200×300 H4/2 D64 c · 10.5MB 1×1024² H8 D128 nc · 41.9MB 1×4096² H4 D128 c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67512" y="2066543"/>
          <a:ext cx="13203936" cy="7854679"/>
        </p:xfrm>
        <a:graphic>
          <a:graphicData uri="http://schemas.openxmlformats.org/drawingml/2006/table">
            <a:tbl>
              <a:tblPr/>
              <a:tblGrid>
                <a:gridCol w="777240"/>
                <a:gridCol w="1234440"/>
                <a:gridCol w="1243584"/>
                <a:gridCol w="1243584"/>
                <a:gridCol w="1243584"/>
                <a:gridCol w="1243584"/>
                <a:gridCol w="1243584"/>
                <a:gridCol w="1243584"/>
                <a:gridCol w="1243584"/>
                <a:gridCol w="1243584"/>
                <a:gridCol w="1243584"/>
              </a:tblGrid>
              <a:tr h="365760">
                <a:tc>
                  <a:txBody>
                    <a:bodyPr wrap="none"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case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实现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duration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MTE2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MTE1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fixpipe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scal_c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vec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scal_v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cube%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74446"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0.26MB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本仓库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30.5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90.3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74446"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0.26MB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本仓库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20.0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82.0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74446"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0.26MB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15.4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25.6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74446"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0.26MB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15.2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24.9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74446"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0.33MB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本仓库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33.9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91.5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74446"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0.33MB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本仓库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22.2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82.2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74446"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0.33MB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74446"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0.33MB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74446"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0.92MB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本仓库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32.3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88.2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74446"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0.92MB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本仓库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25.4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86.5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74446"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0.92MB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33.5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86.3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74446"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0.92MB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28.4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68.2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74446"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10.5MB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本仓库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122.6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31.9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45.6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17.7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52.7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30.7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19.3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24.5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96.4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74446"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10.5MB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本仓库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91.0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32.3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28.3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33.6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20.9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19.3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92.7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74446"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10.5MB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76.8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36.4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19.0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20.1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43.8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30.1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20.5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23.9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89.0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74446"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10.5MB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67.2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36.7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15.3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22.1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46.4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29.6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17.3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19.1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83.1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74446"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41.9MB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本仓库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345.0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128.7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135.3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72.6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179.9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110.9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75.3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92.0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98.4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74446"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41.9MB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本仓库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263.3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129.3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59.3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73.2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88.1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67.4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74.6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41.9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95.2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74446"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41.9MB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194.5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139.6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90.5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79.7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144.9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96.7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80.1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92.1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92.4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74446"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41.9MB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177.0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132.7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59.4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83.5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145.5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77.8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60.7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68.2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92.2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67512" y="10158984"/>
            <a:ext cx="138988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极小档（</a:t>
            </a:r>
            <a:r>
              <a:rPr sz="115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0.26 / 0.33MB</a:t>
            </a:r>
            <a:r>
              <a:rPr sz="115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15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ours </a:t>
            </a:r>
            <a:r>
              <a:rPr sz="115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明显落后（实测</a:t>
            </a:r>
            <a:r>
              <a:rPr sz="115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det 2.3×</a:t>
            </a:r>
            <a:r>
              <a:rPr sz="115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、</a:t>
            </a:r>
            <a:r>
              <a:rPr sz="115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nd 1.4–1.6×</a:t>
            </a:r>
            <a:r>
              <a:rPr sz="115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，见</a:t>
            </a:r>
            <a:r>
              <a:rPr sz="115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10.3</a:t>
            </a:r>
            <a:r>
              <a:rPr sz="115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）：全部</a:t>
            </a:r>
            <a:r>
              <a:rPr sz="115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pipe ≤0.5µs</a:t>
            </a:r>
            <a:r>
              <a:rPr sz="115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、</a:t>
            </a:r>
            <a:r>
              <a:rPr sz="115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MAC </a:t>
            </a:r>
            <a:r>
              <a:rPr sz="115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仅</a:t>
            </a:r>
            <a:r>
              <a:rPr sz="115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0.1µs</a:t>
            </a:r>
            <a:r>
              <a:rPr sz="115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，而</a:t>
            </a:r>
            <a:r>
              <a:rPr sz="115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duration 20–34µs ⇒ </a:t>
            </a:r>
            <a:r>
              <a:rPr sz="115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差距全在固定开销（启动</a:t>
            </a:r>
            <a:r>
              <a:rPr sz="115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+ </a:t>
            </a:r>
            <a:r>
              <a:rPr sz="115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轮次</a:t>
            </a:r>
            <a:r>
              <a:rPr sz="115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/ </a:t>
            </a:r>
            <a:r>
              <a:rPr sz="115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同步结构）。</a:t>
            </a:r>
            <a:r>
              <a:rPr sz="115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0.92MB </a:t>
            </a:r>
            <a:r>
              <a:rPr sz="115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起</a:t>
            </a:r>
            <a:r>
              <a:rPr sz="115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det </a:t>
            </a:r>
            <a:r>
              <a:rPr sz="115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已占优（实测</a:t>
            </a:r>
            <a:r>
              <a:rPr sz="115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1.05×</a:t>
            </a:r>
            <a:r>
              <a:rPr sz="115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）；中</a:t>
            </a:r>
            <a:r>
              <a:rPr sz="115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/ </a:t>
            </a:r>
            <a:r>
              <a:rPr sz="115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大档</a:t>
            </a:r>
            <a:r>
              <a:rPr sz="115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det </a:t>
            </a:r>
            <a:r>
              <a:rPr sz="115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缺口集中在</a:t>
            </a:r>
            <a:r>
              <a:rPr sz="115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MTE2 </a:t>
            </a:r>
            <a:r>
              <a:rPr sz="115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与</a:t>
            </a:r>
            <a:r>
              <a:rPr sz="115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fixpipe</a:t>
            </a:r>
            <a:r>
              <a:rPr sz="115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15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+26.6 / +8.9</a:t>
            </a:r>
            <a:r>
              <a:rPr sz="115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、</a:t>
            </a:r>
            <a:r>
              <a:rPr sz="115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+44.8 / +35.0</a:t>
            </a:r>
            <a:r>
              <a:rPr sz="115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），</a:t>
            </a:r>
            <a:r>
              <a:rPr sz="115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nd </a:t>
            </a:r>
            <a:r>
              <a:rPr sz="115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各口</a:t>
            </a:r>
            <a:r>
              <a:rPr sz="115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≤ opst </a:t>
            </a:r>
            <a:r>
              <a:rPr sz="115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而</a:t>
            </a:r>
            <a:r>
              <a:rPr sz="115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duration </a:t>
            </a:r>
            <a:r>
              <a:rPr sz="115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仍</a:t>
            </a:r>
            <a:r>
              <a:rPr sz="115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1.35–1.49×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10.2. Profiling · TND causal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（小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/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中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/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大典型案例）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52144"/>
            <a:ext cx="1389888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device </a:t>
            </a:r>
            <a:r>
              <a:rPr sz="12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侧用时</a:t>
            </a:r>
            <a:r>
              <a:rPr sz="12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µs</a:t>
            </a:r>
            <a:r>
              <a:rPr sz="12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；</a:t>
            </a:r>
            <a:r>
              <a:rPr sz="12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duration = Task Duration</a:t>
            </a:r>
            <a:r>
              <a:rPr sz="12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；</a:t>
            </a:r>
            <a:r>
              <a:rPr sz="12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MAC / MTE2 / MTE1 / fixpipe = cube </a:t>
            </a:r>
            <a:r>
              <a:rPr sz="12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侧各口；</a:t>
            </a:r>
            <a:r>
              <a:rPr sz="12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scal_c / scal_v = AIC / AIV </a:t>
            </a:r>
            <a:r>
              <a:rPr sz="12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标量口（解码、循环、同步）；</a:t>
            </a:r>
            <a:r>
              <a:rPr sz="12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vec = AIV </a:t>
            </a:r>
            <a:r>
              <a:rPr sz="12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向量；</a:t>
            </a:r>
            <a:r>
              <a:rPr sz="12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cube% = cube </a:t>
            </a:r>
            <a:r>
              <a:rPr sz="12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利用率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609344"/>
            <a:ext cx="1371600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小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2 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段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256+384 H4 D128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3.3MB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· 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中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2×2048 H8 D128 · 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大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4×2048 H4 D128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（均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causal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，后两者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41.9MB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）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67512" y="2066543"/>
          <a:ext cx="13203936" cy="7854696"/>
        </p:xfrm>
        <a:graphic>
          <a:graphicData uri="http://schemas.openxmlformats.org/drawingml/2006/table">
            <a:tbl>
              <a:tblPr/>
              <a:tblGrid>
                <a:gridCol w="777240"/>
                <a:gridCol w="1234440"/>
                <a:gridCol w="1243584"/>
                <a:gridCol w="1243584"/>
                <a:gridCol w="1243584"/>
                <a:gridCol w="1243584"/>
                <a:gridCol w="1243584"/>
                <a:gridCol w="1243584"/>
                <a:gridCol w="1243584"/>
                <a:gridCol w="1243584"/>
                <a:gridCol w="1243584"/>
              </a:tblGrid>
              <a:tr h="365760">
                <a:tc>
                  <a:txBody>
                    <a:bodyPr wrap="none"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case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实现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duration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MTE2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MTE1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fixpipe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scal_c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vec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scal_v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cube%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624078"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小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本仓库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39.3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90.3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624078"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小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本仓库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27.0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87.0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624078"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小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45.7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19.1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13.3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85.8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624078"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小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33.2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13.9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52.6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624078"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中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本仓库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404.8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146.2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194.4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80.9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261.8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127.6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85.3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109.0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89.4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624078"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中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本仓库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283.7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146.7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69.7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83.3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97.8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78.1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86.3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45.8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86.4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624078"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中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264.2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167.3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131.9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85.4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180.9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106.6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84.8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96.7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88.2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624078"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中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188.4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129.3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62.7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82.7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150.8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94.4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65.5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88.6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95.1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624078"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大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本仓库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356.5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143.3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178.4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79.6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234.9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127.7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85.8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110.2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91.1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624078"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大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本仓库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282.0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142.2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76.1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81.0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102.9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75.5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85.8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46.0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89.3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624078"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大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260.3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164.6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124.1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84.8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170.8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105.4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84.3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96.4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89.0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624078"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大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194.0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131.2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66.6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82.9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154.8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96.1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65.4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89.4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95.0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67512" y="10158984"/>
            <a:ext cx="138988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与</a:t>
            </a:r>
            <a:r>
              <a:rPr sz="115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BSND </a:t>
            </a:r>
            <a:r>
              <a:rPr sz="115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同构：中</a:t>
            </a:r>
            <a:r>
              <a:rPr sz="115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/ </a:t>
            </a:r>
            <a:r>
              <a:rPr sz="115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大档</a:t>
            </a:r>
            <a:r>
              <a:rPr sz="115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nd </a:t>
            </a:r>
            <a:r>
              <a:rPr sz="115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各口</a:t>
            </a:r>
            <a:r>
              <a:rPr sz="115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≤ opst</a:t>
            </a:r>
            <a:r>
              <a:rPr sz="115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、</a:t>
            </a:r>
            <a:r>
              <a:rPr sz="115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duration 1.45–1.51×</a:t>
            </a:r>
            <a:r>
              <a:rPr sz="115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；</a:t>
            </a:r>
            <a:r>
              <a:rPr sz="115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det </a:t>
            </a:r>
            <a:r>
              <a:rPr sz="115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缺口</a:t>
            </a:r>
            <a:r>
              <a:rPr sz="115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= MTE2 +62.5 / +54.3</a:t>
            </a:r>
            <a:r>
              <a:rPr sz="115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、</a:t>
            </a:r>
            <a:r>
              <a:rPr sz="115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fixpipe +80.9 / +64.1</a:t>
            </a:r>
            <a:r>
              <a:rPr sz="115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；</a:t>
            </a:r>
            <a:r>
              <a:rPr sz="115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MAC</a:t>
            </a:r>
            <a:r>
              <a:rPr sz="115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、</a:t>
            </a:r>
            <a:r>
              <a:rPr sz="115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scalar </a:t>
            </a:r>
            <a:r>
              <a:rPr sz="115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均不高于</a:t>
            </a:r>
            <a:r>
              <a:rPr sz="115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opst</a:t>
            </a:r>
            <a:r>
              <a:rPr sz="115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。小档（</a:t>
            </a:r>
            <a:r>
              <a:rPr sz="115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3.3MB</a:t>
            </a:r>
            <a:r>
              <a:rPr sz="115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15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ours </a:t>
            </a:r>
            <a:r>
              <a:rPr sz="115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占优：实测</a:t>
            </a:r>
            <a:r>
              <a:rPr sz="115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nd 1.19×</a:t>
            </a:r>
            <a:r>
              <a:rPr sz="115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、</a:t>
            </a:r>
            <a:r>
              <a:rPr sz="115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det 1.27×</a:t>
            </a:r>
            <a:r>
              <a:rPr sz="115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15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profiling </a:t>
            </a:r>
            <a:r>
              <a:rPr sz="115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中</a:t>
            </a:r>
            <a:r>
              <a:rPr sz="115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ours </a:t>
            </a:r>
            <a:r>
              <a:rPr sz="115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的</a:t>
            </a:r>
            <a:r>
              <a:rPr sz="115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fixpipe </a:t>
            </a:r>
            <a:r>
              <a:rPr sz="115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也远低于</a:t>
            </a:r>
            <a:r>
              <a:rPr sz="115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opst</a:t>
            </a:r>
            <a:r>
              <a:rPr sz="115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10.3. Profiling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结论与优化优先级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33856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两条主线：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① nd 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主流水「每条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pipe 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都不高、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duration 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却长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1.4–1.5×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」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⇒ 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重叠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/ 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串联受限；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444752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② det 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的增量全部落在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MTE2 + fixpipe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（加载与写回），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MAC 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不高于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opst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；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③ 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极小档（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0.26–0.33MB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pipe 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全空、差距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100% 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在固定开销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67512" y="1883664"/>
          <a:ext cx="13441680" cy="4901183"/>
        </p:xfrm>
        <a:graphic>
          <a:graphicData uri="http://schemas.openxmlformats.org/drawingml/2006/table">
            <a:tbl>
              <a:tblPr/>
              <a:tblGrid>
                <a:gridCol w="1691640"/>
                <a:gridCol w="6675120"/>
                <a:gridCol w="2103120"/>
                <a:gridCol w="2971800"/>
              </a:tblGrid>
              <a:tr h="402336"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000000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观察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证据（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10.1 / 10.2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数据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+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实测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min-of-25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判断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行动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1042415"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nd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主流水</a:t>
                      </a:r>
                    </a:p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（共同瓶颈）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TND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中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/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大：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duration 283.7 / 282.0 vs opst 188.4 / 194.0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1.51× / 1.45×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），但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MTE2 69.7 / 76.1</a:t>
                      </a:r>
                    </a:p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vs 62.7 / 66.6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fixpipe 97.8 / 102.9 vs 150.8 / 154.8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scal_c 78.1 / 75.5 vs 94.4 / 96.1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；</a:t>
                      </a:r>
                    </a:p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cube% 86 / 89 vs 95 / 95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。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BSND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中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/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大同构（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91.0 / 263.3 vs 67.2 / 177.0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，各口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≤ opst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重叠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/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每任务</a:t>
                      </a:r>
                    </a:p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串联受限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①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主流水重叠</a:t>
                      </a:r>
                    </a:p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round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barrier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</a:p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双缓冲）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1005840"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det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增量在</a:t>
                      </a:r>
                    </a:p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加载与写回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TND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中：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MTE2 +62.5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194.4 vs 131.9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）、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fixpipe +80.9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261.8 vs 180.9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）；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TND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大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+54.3 / +64.1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；</a:t>
                      </a:r>
                    </a:p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BSND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中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+26.6 / +8.9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、大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+44.8 / +35.0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。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MAC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均不高于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opst ——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不是算得慢，是搬得多、写得多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重复加载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Q / Kᵀ / K / dY</a:t>
                      </a:r>
                    </a:p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+ fp32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原子累加与每列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cast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② BN2S2 det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引入</a:t>
                      </a:r>
                    </a:p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KV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驻留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+ L0C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累积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841248"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scalar /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解码</a:t>
                      </a:r>
                    </a:p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不是瓶颈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nd scal_c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全面低于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opst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TND 78.1/75.5 vs 94.4/96.1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；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BSND 20.9/67.4 vs 29.6/77.8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）；</a:t>
                      </a:r>
                    </a:p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det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仅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+21.0/+14.0/+0.6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；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nd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实例化中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det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解码被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if constexpr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编译掉（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lookahead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收益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≈ 0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不是瓶颈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③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解码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/ scalar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不做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914400"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极小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shape</a:t>
                      </a:r>
                    </a:p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0.26–0.33MB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仍未占优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0.33MB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det 23.5 vs 10.1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2.3×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）、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nd 14.5 vs 10.2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1.4×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0.26MB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det 19.1 vs 8.5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2.3×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）、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nd 13.9 vs 8.6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1.6×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profiling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：全部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pipe ≤0.5µs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MAC 0.1µs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，而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duration 22–34µs ⇒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差距全在固定开销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固定开销（启动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+</a:t>
                      </a:r>
                    </a:p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轮次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/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同步结构）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④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固定开销专项</a:t>
                      </a:r>
                    </a:p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（低优先级，暂不投入）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694944"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≥0.9MB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已占优</a:t>
                      </a:r>
                    </a:p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或持平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0.92MB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det 23.9 vs 25.0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1.05×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）、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nd 19.8 vs 19.1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0.96×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TND 3.3MB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27.0/39.3 vs 33.2/45.7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1.19×/1.27×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规模够大后固定开销摊薄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维持现状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67512" y="7004304"/>
            <a:ext cx="12801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优化优先级（按收益面排序；本轮仅记录，不改代码）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67512" y="7388352"/>
          <a:ext cx="13441679" cy="2816352"/>
        </p:xfrm>
        <a:graphic>
          <a:graphicData uri="http://schemas.openxmlformats.org/drawingml/2006/table">
            <a:tbl>
              <a:tblPr/>
              <a:tblGrid>
                <a:gridCol w="411480"/>
                <a:gridCol w="6766560"/>
                <a:gridCol w="3977639"/>
                <a:gridCol w="2286000"/>
              </a:tblGrid>
              <a:tr h="384048">
                <a:tc>
                  <a:txBody>
                    <a:bodyPr wrap="none"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方向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依据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预期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713232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①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主流水重叠：减少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round / barrier 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与每任务串联，双缓冲、加深流水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nd 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各口低于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opst 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但慢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1.45–1.51×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，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cube% 86–89 vs 95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nd 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与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det 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同时受益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713232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②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BN2S2 det 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驻留化：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KV 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组驻留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+ L0C 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累积（对齐目标主流水，参照合并前的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nd 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路径）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det MTE2 +54~+63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fixpipe +64~+81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（中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/ 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大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TND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直接消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det 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缺口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548640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③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固定开销专项：极小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shape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≤0.35MB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）的启动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/ 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轮次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/ 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同步裁剪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0.26–0.33MB det 2.3×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nd 1.4–1.6×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；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pipe 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全空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仅影响极小档，低优先级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④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解码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/ scalar 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专项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nd scal_c 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低于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opst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；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det 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仅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+0.6~+21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；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lookahead 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削减收益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≈ 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不做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