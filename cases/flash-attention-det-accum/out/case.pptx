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5240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列私有</a:t>
            </a:r>
            <a:r>
              <a:rPr sz="30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swizzle</a:t>
            </a:r>
            <a:r>
              <a:rPr sz="30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：一条核包下一条</a:t>
            </a:r>
            <a:r>
              <a:rPr sz="30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KV </a:t>
            </a:r>
            <a:r>
              <a:rPr sz="30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输入：核数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2 · S1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分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3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· S2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分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3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块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·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批次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" y="1536192"/>
            <a:ext cx="8778240" cy="1833372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9525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64592" rIns="164592" tIns="82296" bIns="82296"/>
          <a:lstStyle/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核数 k=2, S1 块数 m=3, S2 块数 n=3, 批数 b=2</a:t>
            </a:r>
          </a:p>
          <a:p>
            <a:pPr algn="l">
              <a:lnSpc>
                <a:spcPct val="112800"/>
              </a:lnSpc>
            </a:pPr>
            <a:r>
              <a:rPr sz="1250" b="1">
                <a:solidFill>
                  <a:srgbClr val="0086B3"/>
                </a:solidFill>
                <a:latin typeface="Consolas"/>
                <a:ea typeface="Noto Sans SC"/>
                <a:cs typeface="Noto Sans SC"/>
              </a:rPr>
              <a:t>对每个</a:t>
            </a: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(轮 r, 核 j):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任务号 = ((r-1) / m) * k + (j-1)     </a:t>
            </a:r>
            <a:r>
              <a:rPr sz="1250">
                <a:solidFill>
                  <a:srgbClr val="969896"/>
                </a:solidFill>
                <a:latin typeface="Consolas"/>
                <a:ea typeface="Noto Sans SC"/>
                <a:cs typeface="Noto Sans SC"/>
              </a:rPr>
              <a:t>  # 每 m 轮换一次任务号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第几列 = 任务号 % n + 1               </a:t>
            </a:r>
            <a:r>
              <a:rPr sz="1250">
                <a:solidFill>
                  <a:srgbClr val="969896"/>
                </a:solidFill>
                <a:latin typeface="Consolas"/>
                <a:ea typeface="Noto Sans SC"/>
                <a:cs typeface="Noto Sans SC"/>
              </a:rPr>
              <a:t>  # 低位先走 S2 列轴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第几批 = 任务号 / n + 1               </a:t>
            </a:r>
            <a:r>
              <a:rPr sz="1250">
                <a:solidFill>
                  <a:srgbClr val="969896"/>
                </a:solidFill>
                <a:latin typeface="Consolas"/>
                <a:ea typeface="Noto Sans SC"/>
                <a:cs typeface="Noto Sans SC"/>
              </a:rPr>
              <a:t>  # 列走完才换批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第几行 = (第几列-1 + r-1) % m + 1     </a:t>
            </a:r>
            <a:r>
              <a:rPr sz="1250">
                <a:solidFill>
                  <a:srgbClr val="969896"/>
                </a:solidFill>
                <a:latin typeface="Consolas"/>
                <a:ea typeface="Noto Sans SC"/>
                <a:cs typeface="Noto Sans SC"/>
              </a:rPr>
              <a:t>  # 同一列内 S1 每轮转一格</a:t>
            </a:r>
          </a:p>
          <a:p>
            <a:pPr algn="l">
              <a:lnSpc>
                <a:spcPct val="112800"/>
              </a:lnSpc>
            </a:pP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    </a:t>
            </a:r>
            <a:r>
              <a:rPr sz="1250" b="1">
                <a:solidFill>
                  <a:srgbClr val="0086B3"/>
                </a:solidFill>
                <a:latin typeface="Consolas"/>
                <a:ea typeface="Noto Sans SC"/>
                <a:cs typeface="Noto Sans SC"/>
              </a:rPr>
              <a:t>输出</a:t>
            </a:r>
            <a:r>
              <a:rPr sz="1250" b="0">
                <a:solidFill>
                  <a:srgbClr val="333333"/>
                </a:solidFill>
                <a:latin typeface="Consolas"/>
                <a:ea typeface="Noto Sans SC"/>
                <a:cs typeface="Noto Sans SC"/>
              </a:rPr>
              <a:t>: B, N2, G, S1=第几行, S2=第几列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67512" y="3662172"/>
          <a:ext cx="8522206" cy="4572000"/>
        </p:xfrm>
        <a:graphic>
          <a:graphicData uri="http://schemas.openxmlformats.org/drawingml/2006/table">
            <a:tbl>
              <a:tblPr/>
              <a:tblGrid>
                <a:gridCol w="1051560"/>
                <a:gridCol w="3735323"/>
                <a:gridCol w="3735323"/>
              </a:tblGrid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\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1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E7C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7A5AF8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2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E7C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7A5AF8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3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E7C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7A5AF8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4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E7C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7A5AF8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5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E7C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7A5AF8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6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E7C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S2=1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7A5AF8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7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E7C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7A5AF8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8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E7C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7A5AF8"/>
                    </a:solidFill>
                  </a:tcPr>
                </a:tc>
              </a:tr>
              <a:tr h="45720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9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  S2=2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E7C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  S2=3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7A5A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332720" y="1536192"/>
            <a:ext cx="42976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格子里写什么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1865376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B  =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第几批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2121408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N2 =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第几个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KV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2377440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G  =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组里第几个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Q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2633472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S1 = Q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方向第几块（每块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128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行）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2889504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S2 = KV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方向第几块（每块</a:t>
            </a:r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128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列）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3145536"/>
            <a:ext cx="4297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D  = </a:t>
            </a:r>
            <a:r>
              <a:rPr sz="13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头维，整块不切分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3657600"/>
            <a:ext cx="46177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这个例子的数字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0332720" y="3986784"/>
          <a:ext cx="4251960" cy="2011680"/>
        </p:xfrm>
        <a:graphic>
          <a:graphicData uri="http://schemas.openxmlformats.org/drawingml/2006/table">
            <a:tbl>
              <a:tblPr/>
              <a:tblGrid>
                <a:gridCol w="2926080"/>
                <a:gridCol w="132588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项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值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任务总数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18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总槽位（核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x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轮）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18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空泡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/ </a:t>
                      </a: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无任务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每核独占的列数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0332720" y="6309360"/>
            <a:ext cx="461772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这个例子为什么是确定的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0332720" y="6638544"/>
          <a:ext cx="4251960" cy="1682496"/>
        </p:xfrm>
        <a:graphic>
          <a:graphicData uri="http://schemas.openxmlformats.org/drawingml/2006/table">
            <a:tbl>
              <a:tblPr/>
              <a:tblGrid>
                <a:gridCol w="2011680"/>
                <a:gridCol w="2240280"/>
              </a:tblGrid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性质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本例情形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任务不重复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每个块只被派一次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同一轮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不撞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各核的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S1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互不相同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每条核列私有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✓ </a:t>
                      </a:r>
                      <a:r>
                        <a:rPr sz="120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整列只归一条核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67512" y="9464040"/>
            <a:ext cx="13898880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顺序固定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——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这就是确定性的来源。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例子：列私有</a:t>
            </a:r>
            <a:r>
              <a:rPr sz="30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swizzle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把任务矩阵摊到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S1×S2 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平面上：纵轴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S1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、横轴</a:t>
            </a:r>
            <a:r>
              <a:rPr sz="16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S2</a:t>
            </a:r>
            <a:r>
              <a:rPr sz="16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，颜色是核，格内是第几轮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920240" y="2788920"/>
          <a:ext cx="2926080" cy="292608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731520"/>
                <a:gridCol w="731520"/>
              </a:tblGrid>
              <a:tr h="731520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E7C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7A5A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E7CF0"/>
                    </a:solidFill>
                  </a:tcPr>
                </a:tc>
              </a:tr>
              <a:tr h="73152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E7C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7A5A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E7CF0"/>
                    </a:solidFill>
                  </a:tcPr>
                </a:tc>
              </a:tr>
              <a:tr h="73152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E7C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7A5A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E7CF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956816" y="2423160"/>
            <a:ext cx="29260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B=1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11680" y="2715768"/>
            <a:ext cx="0" cy="73152"/>
          </a:xfrm>
          <a:prstGeom prst="line">
            <a:avLst/>
          </a:prstGeom>
          <a:ln w="9525">
            <a:solidFill>
              <a:srgbClr val="DDDED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09360" y="2788920"/>
          <a:ext cx="2926080" cy="292608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731520"/>
                <a:gridCol w="731520"/>
              </a:tblGrid>
              <a:tr h="731520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7A5A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E7C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7A5AF8"/>
                    </a:solidFill>
                  </a:tcPr>
                </a:tc>
              </a:tr>
              <a:tr h="73152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7A5A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E7C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7A5AF8"/>
                    </a:solidFill>
                  </a:tcPr>
                </a:tc>
              </a:tr>
              <a:tr h="73152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S1=3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7A5A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E7C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</a:t>
                      </a:r>
                      <a:r>
                        <a:rPr sz="1300" b="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7A5A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45936" y="2423160"/>
            <a:ext cx="29260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B=2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0" y="2715768"/>
            <a:ext cx="0" cy="73152"/>
          </a:xfrm>
          <a:prstGeom prst="line">
            <a:avLst/>
          </a:prstGeom>
          <a:ln w="9525">
            <a:solidFill>
              <a:srgbClr val="DDDED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98448" y="2788920"/>
            <a:ext cx="0" cy="2487168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39496" y="3895344"/>
            <a:ext cx="713232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20240" y="2130552"/>
            <a:ext cx="2487168" cy="0"/>
          </a:xfrm>
          <a:prstGeom prst="line">
            <a:avLst/>
          </a:prstGeom>
          <a:ln w="12700">
            <a:solidFill>
              <a:srgbClr val="2B2F3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920240" y="1819656"/>
            <a:ext cx="14630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S2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5989320"/>
            <a:ext cx="69494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格内</a:t>
            </a:r>
            <a:r>
              <a:rPr sz="14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4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第几轮执行，颜色</a:t>
            </a:r>
            <a:r>
              <a:rPr sz="14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4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哪个核，灰格</a:t>
            </a:r>
            <a:r>
              <a:rPr sz="1400" b="0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400" b="0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本轮该核空闲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2788920"/>
            <a:ext cx="5166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每个核负责哪些列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9692640" y="3118103"/>
          <a:ext cx="4800600" cy="1207008"/>
        </p:xfrm>
        <a:graphic>
          <a:graphicData uri="http://schemas.openxmlformats.org/drawingml/2006/table">
            <a:tbl>
              <a:tblPr/>
              <a:tblGrid>
                <a:gridCol w="868680"/>
                <a:gridCol w="3931920"/>
              </a:tblGrid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负责的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(B, S2) </a:t>
                      </a:r>
                      <a:r>
                        <a:rPr sz="1250" b="0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列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S2=1  B=1 S2=3  B=2 S2=2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50" b="0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B=1 S2=2  B=2 S2=1  B=2 S2=3</a:t>
                      </a:r>
                    </a:p>
                  </a:txBody>
                  <a:tcPr anchor="ctr" marL="10160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67512" y="9464040"/>
            <a:ext cx="13898880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一条核在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m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轮里守着同一条列</a:t>
            </a:r>
            <a:r>
              <a:rPr sz="1800" b="1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—— dK/dV </a:t>
            </a:r>
            <a:r>
              <a:rPr sz="1800" b="1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因此是单核顺序累加。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