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0.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总览：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种任务索引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同一个问题：给定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(round, core)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，这一轮这条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该算哪一块？七种规则给出七种分派方式。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1572768"/>
          <a:ext cx="8915400" cy="4498848"/>
        </p:xfrm>
        <a:graphic>
          <a:graphicData uri="http://schemas.openxmlformats.org/drawingml/2006/table">
            <a:tbl>
              <a:tblPr/>
              <a:tblGrid>
                <a:gridCol w="2514600"/>
                <a:gridCol w="1005840"/>
                <a:gridCol w="868680"/>
                <a:gridCol w="868680"/>
                <a:gridCol w="868680"/>
                <a:gridCol w="868680"/>
                <a:gridCol w="1920240"/>
              </a:tblGrid>
              <a:tr h="530352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layout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MHA/GQA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低位先走哪个轴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1.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2. Dense Index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3. Causal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fold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后）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4. Left-Up Causal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列（同方形折叠）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5.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BSND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（切片）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6. TND Dense Swizzle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是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本批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7. TND GQA Dense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TND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否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15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展平索引</a:t>
                      </a:r>
                    </a:p>
                  </a:txBody>
                  <a:tcPr anchor="ctr" marL="101600" marR="0" marT="101600" marB="10160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67512" y="6400800"/>
            <a:ext cx="138988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所有规则都是纯算术：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(round, core)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一确定，结果就唯一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这就是确定性的来源。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6766560"/>
            <a:ext cx="90525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本页例子是否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GQA / TND-GQA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epilogue mask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处理。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7059168"/>
            <a:ext cx="11887200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怎么读后面的例子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7516368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页先认公用的轴遍历顺序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 → n2 → s2 → s1 → 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，以及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的一列怎么变成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7900416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算法页：伪代码讲逻辑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任务矩阵（行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round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为什么这样分。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8284464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例子页：网格纵轴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，格内写「哪条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/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第几轮」；灰格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这一轮这条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空闲。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668512"/>
            <a:ext cx="9052560" cy="3291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颜色只编码两个轴：颜色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哪个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列（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）；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不参与配色。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5727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9692640" y="1975104"/>
          <a:ext cx="4800600" cy="2816352"/>
        </p:xfrm>
        <a:graphic>
          <a:graphicData uri="http://schemas.openxmlformats.org/drawingml/2006/table">
            <a:tbl>
              <a:tblPr/>
              <a:tblGrid>
                <a:gridCol w="1005840"/>
                <a:gridCol w="37947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记号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里的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Q head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Q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KV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方向第几块（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head dim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tile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内不切分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513892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每个例子都满足的三条不变量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5541264"/>
          <a:ext cx="4800600" cy="1901952"/>
        </p:xfrm>
        <a:graphic>
          <a:graphicData uri="http://schemas.openxmlformats.org/drawingml/2006/table">
            <a:tbl>
              <a:tblPr/>
              <a:tblGrid>
                <a:gridCol w="1691640"/>
                <a:gridCol w="31089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不变量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含义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每个块只被派给一个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(round, core)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各核这一轮写的输出块互不相同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类：一条列只归一条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771753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七种规则归成三条路线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8119871"/>
          <a:ext cx="4800600" cy="1901952"/>
        </p:xfrm>
        <a:graphic>
          <a:graphicData uri="http://schemas.openxmlformats.org/drawingml/2006/table">
            <a:tbl>
              <a:tblPr/>
              <a:tblGrid>
                <a:gridCol w="1600200"/>
                <a:gridCol w="32004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路线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用它的规则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Dense Swizzle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 Left-Up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 TND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切片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+ gcd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修正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 GQA Dense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（核数不受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块数限制）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按面积展平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 TND GQA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（变长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，不分列）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轴遍历顺序与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dS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七种规则共用同一个铺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的顺序：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外层慢、内层快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。先认这个顺序，后面的分派才看得懂。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最外层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38528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313432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n2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57984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KV head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2112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557016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425696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800600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列内逐行走</a:t>
            </a:r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669280" y="1591056"/>
            <a:ext cx="329184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44184" y="1408176"/>
            <a:ext cx="822960" cy="402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1883664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2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内最内层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212848"/>
            <a:ext cx="768096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低位先走内层轴：同一轮里各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，落在相邻的</a:t>
            </a:r>
            <a:r>
              <a:rPr sz="13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列上。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task id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铺开的顺序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155448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4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  <p:cxnSp>
        <p:nvCxnSpPr>
          <p:cNvPr id="21" name="Connector 20"/>
          <p:cNvCxnSpPr/>
          <p:nvPr/>
        </p:nvCxnSpPr>
        <p:spPr>
          <a:xfrm>
            <a:off x="1133856" y="3017520"/>
            <a:ext cx="0" cy="2066544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4904" y="391363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670048"/>
            <a:ext cx="292608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分派：颜色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core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394960" y="3017520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7A5AF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FA8A0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1554480" y="5797296"/>
            <a:ext cx="548640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dS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的一列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→ dK/dV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的一行（同一个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1554480" y="6144768"/>
          <a:ext cx="2487168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645152" y="6144768"/>
          <a:ext cx="1243584" cy="2487168"/>
        </p:xfrm>
        <a:graphic>
          <a:graphicData uri="http://schemas.openxmlformats.org/drawingml/2006/table">
            <a:tbl>
              <a:tblPr/>
              <a:tblGrid>
                <a:gridCol w="621792"/>
                <a:gridCol w="621792"/>
              </a:tblGrid>
              <a:tr h="621792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EDF0F5"/>
                    </a:solidFill>
                  </a:tcPr>
                </a:tc>
              </a:tr>
              <a:tr h="62179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E7CF0"/>
                    </a:solidFill>
                  </a:tcPr>
                </a:tc>
              </a:tr>
            </a:tbl>
          </a:graphicData>
        </a:graphic>
      </p:graphicFrame>
      <p:cxnSp>
        <p:nvCxnSpPr>
          <p:cNvPr id="28" name="Connector 27"/>
          <p:cNvCxnSpPr/>
          <p:nvPr/>
        </p:nvCxnSpPr>
        <p:spPr>
          <a:xfrm>
            <a:off x="4114800" y="8321040"/>
            <a:ext cx="45720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35040" y="6236207"/>
            <a:ext cx="20116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的每一列（固定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走完所有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）累加成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dK/dV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的一行。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所以这一列必须由同一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顺序算完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这就是「列私有」。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D 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方向不切分，</a:t>
            </a:r>
            <a:r>
              <a:rPr sz="125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
</a:t>
            </a:r>
            <a:r>
              <a:rPr sz="125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所以只画一格。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463040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0" y="181051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低位走内层轴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拿到连续的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03120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（或相邻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）上。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2395728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它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守着同一条列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688336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走一遍，这才是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单核顺序累加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980944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里，是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不同轮、不同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3273552"/>
            <a:ext cx="48920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内部它始终是同一列连续多轮。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92640" y="391363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38" name="Table 37"/>
          <p:cNvGraphicFramePr>
            <a:graphicFrameLocks noGrp="1"/>
          </p:cNvGraphicFramePr>
          <p:nvPr/>
        </p:nvGraphicFramePr>
        <p:xfrm>
          <a:off x="9692640" y="4315968"/>
          <a:ext cx="4800600" cy="1737360"/>
        </p:xfrm>
        <a:graphic>
          <a:graphicData uri="http://schemas.openxmlformats.org/drawingml/2006/table">
            <a:tbl>
              <a:tblPr/>
              <a:tblGrid>
                <a:gridCol w="1783080"/>
                <a:gridCol w="301752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39" name="TextBox 38"/>
          <p:cNvSpPr txBox="1"/>
          <p:nvPr/>
        </p:nvSpPr>
        <p:spPr>
          <a:xfrm>
            <a:off x="9692640" y="641908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展开（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1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个块）</a:t>
            </a:r>
          </a:p>
        </p:txBody>
      </p:sp>
      <p:graphicFrame>
        <p:nvGraphicFramePr>
          <p:cNvPr id="40" name="Table 39"/>
          <p:cNvGraphicFramePr>
            <a:graphicFrameLocks noGrp="1"/>
          </p:cNvGraphicFramePr>
          <p:nvPr/>
        </p:nvGraphicFramePr>
        <p:xfrm>
          <a:off x="9692640" y="6821424"/>
          <a:ext cx="4800600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640080"/>
                <a:gridCol w="777240"/>
                <a:gridCol w="822960"/>
                <a:gridCol w="822960"/>
                <a:gridCol w="6858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task id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N2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1" name="TextBox 40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后面每种规则，只是把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低位先走哪个轴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换一下；换法不同，就得到不同的分派与不同的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分布。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①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里的数字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task id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顺序；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②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core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，格内写第几轮算它。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③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“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”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的理由：一个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dK/dV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由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dS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的一整列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累加而来。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：列私有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swizzle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59969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5445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(j-1)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每个 m 轮跨度内不变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S2 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/ n + 1     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列走完才换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(第几列-1 + r-1) % m + 1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列内 S1 每轮往下走一行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3954780"/>
          <a:ext cx="8522206" cy="4572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8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9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8011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1302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同一轮里相邻的核落在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相邻两列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4046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轮内不变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守死一条列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，列内把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走一遍。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967892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出现在多条核上，是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/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不同轮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2.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把任务矩阵摊到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S1×S2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平面上：纵轴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、横轴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；颜色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，同一个颜色的深浅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第几条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列，格内是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与轮次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  <a:gridCol w="5994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9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低位走列：同一轮里各核是同一个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的不同列；一条核守死一条列，列内把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走完。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一行三格深浅不同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列；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不配色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，所以行内颜色一致。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各包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9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轮把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个块铺满。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：先分批再分列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&gt;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26740" y="1444752"/>
            <a:ext cx="59969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54450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842" y="1444752"/>
            <a:ext cx="13327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核数 &gt; S1 块数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1833372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k=4, S1 块数 m=2, S2 块数 n=2,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((r-1) / m) * k + j   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1 起算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第几批 = task id % b，得 0 时取 b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低位先走 B（与上一页相反）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b)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((第几列-1) % m + (r-1) % m) % m + 1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输出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B, N2, G, S1=第几行, S2=第几列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3954780"/>
          <a:ext cx="8522204" cy="1371600"/>
        </p:xfrm>
        <a:graphic>
          <a:graphicData uri="http://schemas.openxmlformats.org/drawingml/2006/table">
            <a:tbl>
              <a:tblPr/>
              <a:tblGrid>
                <a:gridCol w="1051560"/>
                <a:gridCol w="1867661"/>
                <a:gridCol w="1867661"/>
                <a:gridCol w="1867661"/>
                <a:gridCol w="1867661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5600700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592988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低位换成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同一轮各核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分属不同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撞不到一起；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6204204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核数可以超过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，代价是列私有要靠切片保证。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Dense Swizzle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还是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Dense Index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？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0332720" y="7114032"/>
          <a:ext cx="4297680" cy="2377440"/>
        </p:xfrm>
        <a:graphic>
          <a:graphicData uri="http://schemas.openxmlformats.org/drawingml/2006/table">
            <a:tbl>
              <a:tblPr/>
              <a:tblGrid>
                <a:gridCol w="1207008"/>
                <a:gridCol w="3090672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判据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两条规则的区别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低位先走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  ·   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批次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同一轮各核落在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的不同列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：同一条列的不同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什么时候选它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：核数不多，一条核守死一条列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Index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：核数超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块数时用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 ★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67512" y="6679692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667512" y="7082028"/>
          <a:ext cx="8778240" cy="182880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3. Dense Index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同一个块集（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batch x 2x2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块）换成本页规则，只用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轮就铺满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2011680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526694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669280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1463040"/>
        </p:xfrm>
        <a:graphic>
          <a:graphicData uri="http://schemas.openxmlformats.org/drawingml/2006/table">
            <a:tbl>
              <a:tblPr/>
              <a:tblGrid>
                <a:gridCol w="960120"/>
                <a:gridCol w="2697480"/>
                <a:gridCol w="26974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7644383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8046719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低位走批：同一轮里各核分属不同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，多出来的核用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维度消化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所以核数可以超过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块数。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条核各守一条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列，每块只落在一条核上。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对比上一页：同轮各核从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的不同列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同一条列的不同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4a.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虚拟列与虚拟行：折叠出来的坐标系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折叠把两个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的三角拼成一个满矩形；矩形里的行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列不属于任何单个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，所以叫虚拟行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虚拟列。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751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0408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① B=1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319272" y="2834640"/>
          <a:ext cx="2194560" cy="219456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548640"/>
              </a:tblGrid>
              <a:tr h="54864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4864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355848" y="2414016"/>
            <a:ext cx="21945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② B=2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的三角（真实坐标）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623560" y="4069080"/>
            <a:ext cx="411480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2834640"/>
          <a:ext cx="3017520" cy="2414016"/>
        </p:xfrm>
        <a:graphic>
          <a:graphicData uri="http://schemas.openxmlformats.org/drawingml/2006/table">
            <a:tbl>
              <a:tblPr/>
              <a:tblGrid>
                <a:gridCol w="603504"/>
                <a:gridCol w="603504"/>
                <a:gridCol w="603504"/>
                <a:gridCol w="603504"/>
                <a:gridCol w="603504"/>
              </a:tblGrid>
              <a:tr h="60350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60350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9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9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63056" y="2414016"/>
            <a:ext cx="30175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③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拼成满矩形：</a:t>
            </a:r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 </a:t>
            </a:r>
            <a:r>
              <a:rPr sz="14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条虚拟列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5852160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每条虚拟列由哪些格拼出来（对照一行普通列）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" y="6254496"/>
          <a:ext cx="8778240" cy="2523744"/>
        </p:xfrm>
        <a:graphic>
          <a:graphicData uri="http://schemas.openxmlformats.org/drawingml/2006/table">
            <a:tbl>
              <a:tblPr/>
              <a:tblGrid>
                <a:gridCol w="1783080"/>
                <a:gridCol w="3154680"/>
                <a:gridCol w="1463040"/>
                <a:gridCol w="2377440"/>
              </a:tblGrid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一条列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由哪些格组成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要几个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buffer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普通列（对照）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格全是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S2=2) + 1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(B=1 S2=3) + 2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格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9692640" y="237744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普通列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虚拟列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/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的区别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692640" y="2779776"/>
          <a:ext cx="480060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554480"/>
                <a:gridCol w="160020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普通的列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坐标是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真实坐标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(B, S1, S2)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虚拟坐标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一条上面有几个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个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守它时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只往一个输出块累加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可能同时往两个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的输出块累加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长度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或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矩形的高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/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宽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9692640" y="539496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虚拟行又是什么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9692640" y="5797296"/>
          <a:ext cx="4800599" cy="1901952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折叠矩形里的行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不是某个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左上对齐（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行装配对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的镜像格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整个虚拟矩形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都派活、零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；折叠只覆盖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区，不用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692640" y="797356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两条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规则各折成什么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8375904"/>
          <a:ext cx="4800600" cy="1591055"/>
        </p:xfrm>
        <a:graphic>
          <a:graphicData uri="http://schemas.openxmlformats.org/drawingml/2006/table">
            <a:tbl>
              <a:tblPr/>
              <a:tblGrid>
                <a:gridCol w="2148840"/>
                <a:gridCol w="2651760"/>
              </a:tblGrid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折叠出来的矩形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=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虚拟宽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：两个三角正好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凑满，没有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53035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 &gt; S2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：多出来的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行是镜像格，同样零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idle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虚拟列是折叠的产物：核按虚拟列分派，同一列的格子可能落在两个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普通列只属于一个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；跨两个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的虚拟列要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（只跨一个的仍只要一个）。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折回真实坐标时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行列会翻转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（右上那片三角），所以格内写它最终落到哪一块。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：因果折叠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4747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是，方形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2040" y="1444752"/>
            <a:ext cx="59969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9750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9952" y="1444752"/>
            <a:ext cx="243230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↪ 仅 Left-Up 内部委托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1847088"/>
            <a:ext cx="8778240" cy="2048255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1 步：把相邻两个 batch 折成一个虚拟矩形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行,  虚拟 batch 数 = b/2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2 步：在虚拟矩形里按“列私有”规则取 task（同 Dense Swizzle）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第 3 步：把虚拟坐标折回真实坐标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虚拟行 &gt;= 虚拟列+1: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右上三角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    batch = 2*虚拟批; 行 = m+1-虚拟行; 列 = 2n-m-虚拟列+2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</a:t>
            </a: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: batch = 2*虚拟批-1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左下三角，行列照抄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67512" y="4169663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67512" y="7644383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97356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把两个相邻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的三角拼成一个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x (n+1)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的满矩形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task id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在矩形里照排；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824788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奇数列用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parity-0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、偶数列用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parity-1 buffer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一条核在两个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8522207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矩形是满的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没有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、也不用打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4. Causal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先看下面的虚拟矩形（两个三角拼成的满矩形），再对照上面两张真实的块图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两个三角正好拼成一个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行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n+1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列的满矩形：没有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槽位、也不用打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。（它只作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Left-Up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的内部委托，不单独被选中）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同一个格子在两张真实图上各出现一次（颜色不同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不同）。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causal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区外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（打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，不参与累加）；一条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在两个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间来回切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每核要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两个累加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buffer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：左上对齐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2 · causal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166293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是，S1 = 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10254" y="1444752"/>
            <a:ext cx="59969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37964" y="1444752"/>
            <a:ext cx="2059178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= S2 时 委托方形折叠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5158" y="1444752"/>
            <a:ext cx="174218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buffer 2 个 (parity)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1444752"/>
            <a:ext cx="2320035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可达性 ★ 偶 batch 且 S1 = S2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1847088"/>
            <a:ext cx="8778240" cy="1618488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m=3, S2 块数 n=3, batch 数 b=2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如果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m &lt;= n: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本例 3 &lt;= 3 成立 → 走这一支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直接套用 Causal Swizzle（方形折叠，见 4 节）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虚拟宽 = n+1 = 4 列,  虚拟高 = m = 3 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折回真实坐标、列内走完 S1 —— 与 4 节同一套公式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否则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(S1 更长, 虚拟高 = 2m-n+1):  才启用左上几何（见 5b 页）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" y="3739896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" y="7214616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754380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m &lt;= n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，不启用左上几何；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" y="7818120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所以分派结果和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节完全一样：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虚拟宽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n+1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、零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、不用打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mask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本例是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偶、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S1=S2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8293608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67512" y="8695944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形状与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节相同（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），因为这一支就是委托方形折叠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对照两页可以确认结果一致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17627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20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440680"/>
          <a:ext cx="4800600" cy="2267712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  <a:gridCol w="960120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074920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S2=3)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9089136"/>
            <a:ext cx="4800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9491472"/>
          <a:ext cx="480060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640080"/>
                <a:gridCol w="640080"/>
                <a:gridCol w="640080"/>
                <a:gridCol w="640080"/>
                <a:gridCol w="640080"/>
                <a:gridCol w="64008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时它不做自己的几何：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直接委托给方形折叠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，结果与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节一致。（选择器：偶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且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S1 = S2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才选它）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 S1, S2)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集合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，与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节的例子逐格相同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委托就是这条路。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区别只在调度器怎么选：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时它可能落到这条规则上，再走进方形折叠。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5b. Left-Up Causal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非方形例子（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 4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· S2 3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上一页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=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，走的是委托的方形折叠；这一页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&gt; S2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，才是它自己的几何：虚拟高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2m-n+1 = 6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111556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⚠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选择器不会走这一支：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1389888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S1 &gt; S2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causal 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用</a:t>
            </a:r>
            <a:r>
              <a:rPr sz="1350" b="0">
                <a:solidFill>
                  <a:srgbClr val="D83931"/>
                </a:solidFill>
                <a:latin typeface="Times New Roman"/>
                <a:ea typeface="Noto Sans SC"/>
                <a:cs typeface="Noto Sans SC"/>
              </a:rPr>
              <a:t> dense + mask</a:t>
            </a:r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1664207"/>
            <a:ext cx="493776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50" b="0">
                <a:solidFill>
                  <a:srgbClr val="D83931"/>
                </a:solidFill>
                <a:latin typeface="Noto Sans SC"/>
                <a:ea typeface="Noto Sans SC"/>
                <a:cs typeface="Noto Sans SC"/>
              </a:rPr>
              <a:t>本页只解释该算法的几何。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92024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5681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89320" y="2377440"/>
          <a:ext cx="2267712" cy="2834640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566928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25896" y="1956816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98448" y="2377440"/>
            <a:ext cx="0" cy="2494483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39496" y="3487521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20240" y="1719072"/>
            <a:ext cx="1927555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1920240" y="5760720"/>
          <a:ext cx="2267712" cy="2944368"/>
        </p:xfrm>
        <a:graphic>
          <a:graphicData uri="http://schemas.openxmlformats.org/drawingml/2006/table">
            <a:tbl>
              <a:tblPr/>
              <a:tblGrid>
                <a:gridCol w="566928"/>
                <a:gridCol w="566928"/>
                <a:gridCol w="566928"/>
                <a:gridCol w="566928"/>
              </a:tblGrid>
              <a:tr h="420624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虚拟列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20624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虚拟行</a:t>
                      </a:r>
                      <a:r>
                        <a:rPr sz="11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1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1956816" y="5394959"/>
            <a:ext cx="226771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fold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后的虚拟矩形（行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S1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，列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虚拟</a:t>
            </a:r>
            <a:r>
              <a:rPr sz="13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S2</a:t>
            </a:r>
            <a:r>
              <a:rPr sz="13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9692640" y="5266944"/>
          <a:ext cx="4800600" cy="1536192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S2=3)  (B=2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692640" y="7040880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9692640" y="7443216"/>
          <a:ext cx="4800600" cy="2304288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虚拟高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2m-n+1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8404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每核负责的真实列数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67512" y="9436608"/>
            <a:ext cx="88696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形状一变，折叠几何跟着变：虚拟高从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m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2m-n+1 = 6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，但规则本身没变。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每个核守一条虚拟列，落到真实坐标上就是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各一条</a:t>
            </a:r>
            <a:r>
              <a:rPr sz="15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S2 </a:t>
            </a:r>
            <a:r>
              <a:rPr sz="15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3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个槽位，正好铺满因果区的</a:t>
            </a:r>
            <a:r>
              <a:rPr sz="15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18 </a:t>
            </a:r>
            <a:r>
              <a:rPr sz="15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：任务切片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· batch 1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223772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BSND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9300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5272" y="1444752"/>
            <a:ext cx="59969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62982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S1 块数 m=2, S2 块数 n=2, batch 数 b=1, g=2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每条核要跑几轮: R = max(ceil(b*n*g/k), ceil(n/m), g) = 2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(j-1)*R + ceil(r/m)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core j 独占 R 个连续 task id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 = ceil( (task id % (b*g) 或取满) / g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ceil(task id / (b*g))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task id % g，得 0 时取 g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起点偏移 = ceil( (第几列 % (t1*m) 或取满) / t1 ),  t1 = R/gcd(b*g, R)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(轮内序号 + 起点偏移 - 1) %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t1*m &lt; n: 还要一步 ID 重排修正（本例不触发）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22860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71597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74889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一个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对应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 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77632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非整除或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切片分核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+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★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 &gt; 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8238743"/>
            <a:ext cx="91440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67512" y="8641079"/>
          <a:ext cx="877824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790956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6.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格上叠着两个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的任务，所以按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拆成两张图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80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1348740"/>
                <a:gridCol w="1348740"/>
                <a:gridCol w="1348740"/>
                <a:gridCol w="134874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1609344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同一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列的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份贡献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不保证同核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R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与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非整除、或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gcd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修正时会分裂）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→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不依赖列私有，改用共享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的轮序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atomic add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同一格上两个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的任务分两行写；颜色仍是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、深浅仍是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KV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本例两条列恰好各自单核；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跨核时不保证列私有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→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共享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workspace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按轮序累加。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：逐批列私有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[3, 2]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3]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（长度不等）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979424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13074" y="1444752"/>
            <a:ext cx="59969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MHA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0784" y="1444752"/>
            <a:ext cx="123037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列私有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2478023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先算每个 batch 要跑几轮，存成前缀表（轮数可以逐 batch 不同）: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每 batch 轮数 = ceil(该 batch 列数 * head 数 / k) *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batch1 要 3 轮, batch2 要 4 轮 → 前缀 [0, 3, 7]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在轮前缀表里查 r 落到哪个 batch, 批内轮号 = r - 该 batch 前缀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= (批内轮号 / 该 batch S1 块数) * k + (j-1)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task id % 该 batch S2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(第几列 + 批内轮号) % 该 batch S1 块数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task id 超出该 batch 列数 → 本核本轮 idle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4599431"/>
          <a:ext cx="8522206" cy="36576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7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S2=3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8531351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886053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有自己的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round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前缀，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批内仍按列私有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排；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1348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核数超过本批列数时那一条核空转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——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的代价。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2011680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71169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同一形状下其它规则能不能用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7114032"/>
          <a:ext cx="4297680" cy="2852928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219456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规则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本形状下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条件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也能用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MHA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、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k ≤ m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Dense Index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k=2 ≤ m=3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Causal Swizzle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Left-Up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本例非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causal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GQA Dense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用不上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7. TND Dense Swizzle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的网格大小不同：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3x2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是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2x3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1920239" cy="256032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1920239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176272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328416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1536192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74920" y="2377440"/>
          <a:ext cx="2560320" cy="1920239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640080"/>
                <a:gridCol w="640080"/>
              </a:tblGrid>
              <a:tr h="640080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64008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1149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175504"/>
            <a:ext cx="67208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920240" y="5577840"/>
          <a:ext cx="635508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整列只归一条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9692640" y="3017520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(B=2 S2=1)  (B=2 S2=3)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9692640" y="446227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4864608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空泡不是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mask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没派活；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mask =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派了不累加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1920240" y="7424928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1920240" y="7827264"/>
          <a:ext cx="6355076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770708"/>
                <a:gridCol w="770708"/>
                <a:gridCol w="770708"/>
                <a:gridCol w="770708"/>
                <a:gridCol w="770708"/>
                <a:gridCol w="770708"/>
                <a:gridCol w="770708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7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124BD8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350AE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8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空闲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2F3F5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839712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242048"/>
          <a:ext cx="4800600" cy="2011680"/>
        </p:xfrm>
        <a:graphic>
          <a:graphicData uri="http://schemas.openxmlformats.org/drawingml/2006/table">
            <a:tbl>
              <a:tblPr/>
              <a:tblGrid>
                <a:gridCol w="352044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每核独占的列数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每个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按自己的长度排轮次，短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不拖累长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；核数超过本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列数时会有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灰格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本轮无列可派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（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batch1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列，第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4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轮只剩一条核有活）。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对比算法页的对照表：按最长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对齐要多花好几轮。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：按面积展平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输入：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core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2 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S1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1] · S2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块数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[2, 2] · GQA g=2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44752"/>
            <a:ext cx="161010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layout TND (变长)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05634" y="1444752"/>
            <a:ext cx="218795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causal 跟随 epilogue mask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1606" y="1444752"/>
            <a:ext cx="599693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GQA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49316" y="1444752"/>
            <a:ext cx="1824736" cy="310896"/>
          </a:xfrm>
          <a:prstGeom prst="roundRect">
            <a:avLst>
              <a:gd name="adj" fmla="val 25000"/>
            </a:avLst>
          </a:prstGeom>
          <a:solidFill>
            <a:srgbClr val="EEF2FF"/>
          </a:solidFill>
          <a:ln w="9525">
            <a:solidFill>
              <a:srgbClr val="C9D6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0" bIns="0"/>
          <a:lstStyle/>
          <a:p>
            <a:pPr algn="ctr"/>
            <a:r>
              <a:rPr sz="1300" b="0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dk/dV 共享 workspace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" y="1847088"/>
            <a:ext cx="8778240" cy="3552444"/>
          </a:xfrm>
          <a:prstGeom prst="roundRect">
            <a:avLst>
              <a:gd name="adj" fmla="val 4000"/>
            </a:avLst>
          </a:prstGeom>
          <a:solidFill>
            <a:srgbClr val="F5F5F5"/>
          </a:solidFill>
          <a:ln w="9525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4592" rIns="164592" tIns="82296" bIns="82296"/>
          <a:lstStyle/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core 数 k=2, batch 数 b=2, g=2, 各 batch 长度不同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先算每 batch 的任务面积并累加: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面积 = 该 batch S1 块数 * S2 块数;  面积前缀 = 逐 batch 累加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例子: 面积前缀 [0, 4, 6]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总轮数 = max(ceil(总面积*head数*g/k), 最大S1块数*g, 最大S2块数) = 6</a:t>
            </a:r>
          </a:p>
          <a:p>
            <a:pPr algn="l">
              <a:lnSpc>
                <a:spcPct val="112800"/>
              </a:lnSpc>
            </a:pPr>
            <a:r>
              <a:rPr sz="1250" b="1">
                <a:solidFill>
                  <a:srgbClr val="0086B3"/>
                </a:solidFill>
                <a:latin typeface="Consolas"/>
                <a:ea typeface="Noto Sans SC"/>
                <a:cs typeface="Noto Sans SC"/>
              </a:rPr>
              <a:t>对每个</a:t>
            </a: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(round r, core j):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全局 task id = (j-1) * 总轮数 + r     </a:t>
            </a:r>
            <a:r>
              <a:rPr sz="1250">
                <a:solidFill>
                  <a:srgbClr val="969896"/>
                </a:solidFill>
                <a:latin typeface="Consolas"/>
                <a:ea typeface="Noto Sans SC"/>
                <a:cs typeface="Noto Sans SC"/>
              </a:rPr>
              <a:t>  # 每条核独占一段，顺序扫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用面积前缀查出它属于哪个 batch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批内号 = 全局 task id - 该 batch 面积前缀 * (N2 数 * g)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片号   = ceil(批内号 / (m*n*g));  N2 = 片号 - 1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片内号 = 批内号 取模 (m*n*g)，得 0 时取满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第几列 = ceil(片内号 / (m*g))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第几组 = ceil( (片内号 取模 (m*g)) / m )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第几行 = (片内号 取模 (m*g)) 取模 m，得 0 时取 m</a:t>
            </a:r>
          </a:p>
          <a:p>
            <a:pPr algn="l">
              <a:lnSpc>
                <a:spcPct val="112800"/>
              </a:lnSpc>
            </a:pPr>
            <a:r>
              <a:rPr sz="1250" b="0">
                <a:solidFill>
                  <a:srgbClr val="333333"/>
                </a:solidFill>
                <a:latin typeface="Consolas"/>
                <a:ea typeface="Noto Sans SC"/>
                <a:cs typeface="Noto Sans SC"/>
              </a:rPr>
              <a:t>    若 t1 &lt; n: 还有一步 gcd 对齐修正（本例不触发）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7512" y="5673851"/>
          <a:ext cx="8522206" cy="3200400"/>
        </p:xfrm>
        <a:graphic>
          <a:graphicData uri="http://schemas.openxmlformats.org/drawingml/2006/table">
            <a:tbl>
              <a:tblPr/>
              <a:tblGrid>
                <a:gridCol w="1051560"/>
                <a:gridCol w="3735323"/>
                <a:gridCol w="3735323"/>
              </a:tblGrid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1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2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3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4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5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  <a:tr h="45720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6 </a:t>
                      </a:r>
                      <a:r>
                        <a:rPr sz="13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B=1 N2=1 G=1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  S2=2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5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B=2 N2=1 G=2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7512" y="9148572"/>
            <a:ext cx="365760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为什么这样分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9477755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按面积前缀把任务空间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展平后等分成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k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段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，每条核顺序扫自己那段；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9752076"/>
            <a:ext cx="8778240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不追求列私有，只保证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同轮各核的</a:t>
            </a:r>
            <a:r>
              <a:rPr sz="13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(B,N2,G,S1) </a:t>
            </a:r>
            <a:r>
              <a:rPr sz="13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互不相同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847088"/>
            <a:ext cx="42976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格子里写什么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7627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B  = batch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2432304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N2 = KV head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序号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688336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G  = GQA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里第几个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Q head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944368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S1 = Q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3200400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S2 = KV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方向第几块（每块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128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列）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3456432"/>
            <a:ext cx="4297680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D  = head dim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，</a:t>
            </a:r>
            <a:r>
              <a:rPr sz="13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tile </a:t>
            </a:r>
            <a:r>
              <a:rPr sz="13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内不切分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4096512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这个例子的数字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10332720" y="4498848"/>
          <a:ext cx="4297679" cy="1609344"/>
        </p:xfrm>
        <a:graphic>
          <a:graphicData uri="http://schemas.openxmlformats.org/drawingml/2006/table">
            <a:tbl>
              <a:tblPr/>
              <a:tblGrid>
                <a:gridCol w="3017520"/>
                <a:gridCol w="128016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项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值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任务总数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总槽位（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 x round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idle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槽位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0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0332720" y="6309360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换成按最长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对齐（示意）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332720" y="6711696"/>
          <a:ext cx="4297680" cy="1426464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2103120"/>
              </a:tblGrid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做法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总轮数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说明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本页规则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（逐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各按自己的长度排，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不被拖慢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对齐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（示意）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8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所有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按最长的排，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短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 </a:t>
                      </a:r>
                      <a:r>
                        <a:rPr sz="11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大量空转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332720" y="8174736"/>
            <a:ext cx="46634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10332720" y="8577072"/>
          <a:ext cx="4297680" cy="1097280"/>
        </p:xfrm>
        <a:graphic>
          <a:graphicData uri="http://schemas.openxmlformats.org/drawingml/2006/table">
            <a:tbl>
              <a:tblPr/>
              <a:tblGrid>
                <a:gridCol w="868680"/>
                <a:gridCol w="3429000"/>
              </a:tblGrid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67512" y="10195560"/>
            <a:ext cx="1389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66928"/>
            <a:ext cx="12344400" cy="5029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30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8. TND GQA Dense —— </a:t>
            </a:r>
            <a:r>
              <a:rPr sz="30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例子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115568"/>
            <a:ext cx="138988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面积大的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分到的格子多；每个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(S1,S2)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格上有两个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的任务，按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G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拆图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2024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95681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G=1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298448" y="2377440"/>
            <a:ext cx="0" cy="2048256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39496" y="3264408"/>
            <a:ext cx="713232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1719072"/>
            <a:ext cx="2048256" cy="0"/>
          </a:xfrm>
          <a:prstGeom prst="line">
            <a:avLst/>
          </a:prstGeom>
          <a:ln w="12700">
            <a:solidFill>
              <a:srgbClr val="2B2F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0240" y="1408176"/>
            <a:ext cx="146304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S2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15000" y="2377440"/>
          <a:ext cx="2560317" cy="2560317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51576" y="195681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B=1 N2=1 G=2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92024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95681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G=1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715000" y="5989320"/>
          <a:ext cx="2560317" cy="1706878"/>
        </p:xfrm>
        <a:graphic>
          <a:graphicData uri="http://schemas.openxmlformats.org/drawingml/2006/table">
            <a:tbl>
              <a:tblPr/>
              <a:tblGrid>
                <a:gridCol w="853439"/>
                <a:gridCol w="853439"/>
                <a:gridCol w="853439"/>
              </a:tblGrid>
              <a:tr h="853439">
                <a:tc>
                  <a:txBody>
                    <a:bodyPr/>
                    <a:lstStyle/>
                    <a:p/>
                  </a:txBody>
                  <a:tcPr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853439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S1=1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第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  <a:r>
                        <a:rPr sz="1300" b="0">
                          <a:solidFill>
                            <a:srgbClr val="FFFFFF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751576" y="5568696"/>
            <a:ext cx="256032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B=2 N2=1 G=2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615184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这个例子为什么是确定的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9692640" y="3017520"/>
          <a:ext cx="4800600" cy="1609344"/>
        </p:xfrm>
        <a:graphic>
          <a:graphicData uri="http://schemas.openxmlformats.org/drawingml/2006/table">
            <a:tbl>
              <a:tblPr/>
              <a:tblGrid>
                <a:gridCol w="2011680"/>
                <a:gridCol w="2788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性质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本例情形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任务不重复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同一轮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不撞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✓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各核的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互不相同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列私有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—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不适用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692640" y="4864608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每条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core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负责哪些列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692640" y="5266944"/>
          <a:ext cx="4800600" cy="1207008"/>
        </p:xfrm>
        <a:graphic>
          <a:graphicData uri="http://schemas.openxmlformats.org/drawingml/2006/table">
            <a:tbl>
              <a:tblPr/>
              <a:tblGrid>
                <a:gridCol w="868680"/>
                <a:gridCol w="3931920"/>
              </a:tblGrid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负责的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(B, S2) </a:t>
                      </a:r>
                      <a:r>
                        <a:rPr sz="125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列（按先后顺序）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S2=1)  (B=1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5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(B=1 S2=2)  (B=2 S2=1)  (B=2 S2=2)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692640" y="6711696"/>
            <a:ext cx="516636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同一个值为什么会重复出现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9692640" y="7114032"/>
          <a:ext cx="4800599" cy="1737360"/>
        </p:xfrm>
        <a:graphic>
          <a:graphicData uri="http://schemas.openxmlformats.org/drawingml/2006/table">
            <a:tbl>
              <a:tblPr/>
              <a:tblGrid>
                <a:gridCol w="1874519"/>
                <a:gridCol w="2926080"/>
              </a:tblGrid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看到的现象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为什么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低位走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S2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跨轮、跨</a:t>
                      </a:r>
                      <a:r>
                        <a:rPr sz="1200" b="1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batch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会重复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在多条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core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列内逐行走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每条列都要走一遍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S1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一条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KV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列的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g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份贡献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不保证同核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→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共享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workspace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同一个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(S2,S1) </a:t>
                      </a: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只出现一次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2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双射：每个块只被派一次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7933944"/>
            <a:ext cx="6355080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每核每轮守哪条列（表头</a:t>
            </a:r>
            <a:r>
              <a:rPr sz="1500" b="1">
                <a:solidFill>
                  <a:srgbClr val="1F2329"/>
                </a:solidFill>
                <a:latin typeface="Times New Roman"/>
                <a:ea typeface="Noto Sans SC"/>
                <a:cs typeface="Noto Sans SC"/>
              </a:rPr>
              <a:t> = </a:t>
            </a:r>
            <a:r>
              <a:rPr sz="1500" b="1">
                <a:solidFill>
                  <a:srgbClr val="1F2329"/>
                </a:solidFill>
                <a:latin typeface="Noto Sans SC"/>
                <a:ea typeface="Noto Sans SC"/>
                <a:cs typeface="Noto Sans SC"/>
              </a:rPr>
              <a:t>第几轮）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920240" y="8336280"/>
          <a:ext cx="6355079" cy="877824"/>
        </p:xfrm>
        <a:graphic>
          <a:graphicData uri="http://schemas.openxmlformats.org/drawingml/2006/table">
            <a:tbl>
              <a:tblPr/>
              <a:tblGrid>
                <a:gridCol w="960120"/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轮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 \ </a:t>
                      </a:r>
                      <a:r>
                        <a:rPr sz="1000" b="0">
                          <a:solidFill>
                            <a:srgbClr val="1F2329"/>
                          </a:solidFill>
                          <a:latin typeface="Noto Sans SC"/>
                          <a:ea typeface="Noto Sans SC"/>
                          <a:cs typeface="Noto Sans SC"/>
                        </a:rPr>
                        <a:t>核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3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4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5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6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F7F8FA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0C318D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</a:tr>
              <a:tr h="292608"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1F2329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C2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4C7BF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S2=1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230693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>
                        <a:lnSpc>
                          <a:spcPct val="90000"/>
                        </a:lnSpc>
                      </a:pPr>
                      <a:r>
                        <a:rPr sz="1000" b="0">
                          <a:solidFill>
                            <a:srgbClr val="FFFFFF"/>
                          </a:solidFill>
                          <a:latin typeface="Times New Roman"/>
                          <a:ea typeface="Noto Sans SC"/>
                          <a:cs typeface="Noto Sans SC"/>
                        </a:rPr>
                        <a:t>S2=2</a:t>
                      </a:r>
                    </a:p>
                  </a:txBody>
                  <a:tcPr anchor="ctr" marL="101600" marR="0" marT="40640" marB="40640">
                    <a:lnL cmpd="sng" algn="ctr" cap="flat" w="12700">
                      <a:solidFill>
                        <a:srgbClr val="DDDEDF"/>
                      </a:solidFill>
                      <a:prstDash val="solid"/>
                      <a:round/>
                    </a:lnL>
                    <a:lnR cmpd="sng" algn="ctr" cap="flat" w="12700">
                      <a:solidFill>
                        <a:srgbClr val="DDDEDF"/>
                      </a:solidFill>
                      <a:prstDash val="solid"/>
                      <a:round/>
                    </a:lnR>
                    <a:lnT cmpd="sng" algn="ctr" cap="flat" w="12700">
                      <a:solidFill>
                        <a:srgbClr val="DDDEDF"/>
                      </a:solidFill>
                      <a:prstDash val="solid"/>
                      <a:round/>
                    </a:lnT>
                    <a:lnB cmpd="sng" algn="ctr" cap="flat" w="12700">
                      <a:solidFill>
                        <a:srgbClr val="DDDEDF"/>
                      </a:solidFill>
                      <a:prstDash val="solid"/>
                      <a:round/>
                    </a:lnB>
                    <a:solidFill>
                      <a:srgbClr val="6945F7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67512" y="9436608"/>
            <a:ext cx="8869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变长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GQA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无法逐</a:t>
            </a:r>
            <a:r>
              <a:rPr sz="1800" b="1">
                <a:solidFill>
                  <a:srgbClr val="F98E8B"/>
                </a:solidFill>
                <a:latin typeface="Times New Roman"/>
                <a:ea typeface="Noto Sans SC"/>
                <a:cs typeface="Noto Sans SC"/>
              </a:rPr>
              <a:t> batch </a:t>
            </a:r>
            <a:r>
              <a:rPr sz="1800" b="1">
                <a:solidFill>
                  <a:srgbClr val="F98E8B"/>
                </a:solidFill>
                <a:latin typeface="Noto Sans SC"/>
                <a:ea typeface="Noto Sans SC"/>
                <a:cs typeface="Noto Sans SC"/>
              </a:rPr>
              <a:t>对齐，直接把整个任务空间展平等分给各核，顺序扫过。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10131552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四个小块合起来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= 12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个任务，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条核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x 6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轮扫完，</a:t>
            </a:r>
            <a:r>
              <a:rPr sz="1600" b="1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零</a:t>
            </a:r>
            <a:r>
              <a:rPr sz="1600" b="1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idle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10460736"/>
            <a:ext cx="8869680" cy="29260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· batch2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只有</a:t>
            </a:r>
            <a:r>
              <a:rPr sz="1600" b="0">
                <a:solidFill>
                  <a:srgbClr val="333333"/>
                </a:solidFill>
                <a:latin typeface="Times New Roman"/>
                <a:ea typeface="Noto Sans SC"/>
                <a:cs typeface="Noto Sans SC"/>
              </a:rPr>
              <a:t> 1x2 </a:t>
            </a:r>
            <a:r>
              <a:rPr sz="1600" b="0">
                <a:solidFill>
                  <a:srgbClr val="333333"/>
                </a:solidFill>
                <a:latin typeface="Noto Sans SC"/>
                <a:ea typeface="Noto Sans SC"/>
                <a:cs typeface="Noto Sans SC"/>
              </a:rPr>
              <a:t>块，所以它那两张图更矮。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