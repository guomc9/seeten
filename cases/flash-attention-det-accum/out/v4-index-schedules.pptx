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331720"/>
                <a:gridCol w="1005840"/>
                <a:gridCol w="105156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766560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5488" y="1444752"/>
            <a:ext cx="1424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58692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7842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9484" y="1444752"/>
            <a:ext cx="25237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，不参与累加）；一条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7081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4690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6056" y="1444752"/>
            <a:ext cx="215061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469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332" y="1444752"/>
            <a:ext cx="2411475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29360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69594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44846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23874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64107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5954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5104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1203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1180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BN2S2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确定性实现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基线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opst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本仓库自身：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v4-det / v4-nd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（基线）；参考仓库：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opst-det / opst-nd · causal BSND H8 D128 ·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数据为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563624"/>
            <a:ext cx="155448" cy="155448"/>
          </a:xfrm>
          <a:prstGeom prst="rect">
            <a:avLst/>
          </a:prstGeom>
          <a:pattFill prst="wdUpDiag">
            <a:fgClr>
              <a:srgbClr val="FFFFFF"/>
            </a:fgClr>
            <a:bgClr>
              <a:srgbClr val="4D6BFE"/>
            </a:bgClr>
          </a:pattFill>
          <a:ln w="9525">
            <a:solidFill>
              <a:srgbClr val="3D5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36192"/>
            <a:ext cx="13706855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v4-det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9428" y="1563624"/>
            <a:ext cx="155448" cy="155448"/>
          </a:xfrm>
          <a:prstGeom prst="rect">
            <a:avLst/>
          </a:prstGeom>
          <a:solidFill>
            <a:srgbClr val="AAC1FF"/>
          </a:solidFill>
          <a:ln w="9525">
            <a:solidFill>
              <a:srgbClr val="889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1452" y="1536192"/>
            <a:ext cx="12854939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v4-nd</a:t>
            </a:r>
          </a:p>
        </p:txBody>
      </p:sp>
      <p:sp>
        <p:nvSpPr>
          <p:cNvPr id="8" name="Rectangle 7"/>
          <p:cNvSpPr/>
          <p:nvPr/>
        </p:nvSpPr>
        <p:spPr>
          <a:xfrm>
            <a:off x="2304288" y="1563624"/>
            <a:ext cx="155448" cy="155448"/>
          </a:xfrm>
          <a:prstGeom prst="rect">
            <a:avLst/>
          </a:prstGeom>
          <a:solidFill>
            <a:srgbClr val="BDBDBD"/>
          </a:solidFill>
          <a:ln w="9525">
            <a:solidFill>
              <a:srgbClr val="9797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96312" y="1536192"/>
            <a:ext cx="120700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opst-det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522" y="1563624"/>
            <a:ext cx="155448" cy="155448"/>
          </a:xfrm>
          <a:prstGeom prst="rect">
            <a:avLst/>
          </a:prstGeom>
          <a:solidFill>
            <a:srgbClr val="D4D4D4"/>
          </a:solidFill>
          <a:ln w="9525">
            <a:solidFill>
              <a:srgbClr val="A9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9546" y="1536192"/>
            <a:ext cx="1108684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847088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相对吞吐（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opst-det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&gt;1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更快）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5166359"/>
            <a:ext cx="38404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0</a:t>
            </a:r>
          </a:p>
        </p:txBody>
      </p:sp>
      <p:cxnSp>
        <p:nvCxnSpPr>
          <p:cNvPr id="14" name="perf-grid"/>
          <p:cNvCxnSpPr/>
          <p:nvPr/>
        </p:nvCxnSpPr>
        <p:spPr>
          <a:xfrm>
            <a:off x="1088136" y="4480559"/>
            <a:ext cx="13478255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" y="4379975"/>
            <a:ext cx="38404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0.625</a:t>
            </a:r>
          </a:p>
        </p:txBody>
      </p:sp>
      <p:cxnSp>
        <p:nvCxnSpPr>
          <p:cNvPr id="16" name="perf-grid"/>
          <p:cNvCxnSpPr/>
          <p:nvPr/>
        </p:nvCxnSpPr>
        <p:spPr>
          <a:xfrm>
            <a:off x="1088136" y="3694176"/>
            <a:ext cx="13478255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7512" y="3593592"/>
            <a:ext cx="38404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1.25</a:t>
            </a:r>
          </a:p>
        </p:txBody>
      </p:sp>
      <p:cxnSp>
        <p:nvCxnSpPr>
          <p:cNvPr id="18" name="perf-grid"/>
          <p:cNvCxnSpPr/>
          <p:nvPr/>
        </p:nvCxnSpPr>
        <p:spPr>
          <a:xfrm>
            <a:off x="1088136" y="2907791"/>
            <a:ext cx="13478255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67512" y="2807208"/>
            <a:ext cx="38404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1.875</a:t>
            </a:r>
          </a:p>
        </p:txBody>
      </p:sp>
      <p:cxnSp>
        <p:nvCxnSpPr>
          <p:cNvPr id="20" name="perf-grid"/>
          <p:cNvCxnSpPr/>
          <p:nvPr/>
        </p:nvCxnSpPr>
        <p:spPr>
          <a:xfrm>
            <a:off x="1088136" y="2121408"/>
            <a:ext cx="13478255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67512" y="2020824"/>
            <a:ext cx="38404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2.5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88136" y="5266944"/>
            <a:ext cx="13478255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391396" y="4427992"/>
            <a:ext cx="607869" cy="838951"/>
          </a:xfrm>
          <a:prstGeom prst="rect">
            <a:avLst/>
          </a:prstGeom>
          <a:pattFill prst="wdUpDiag">
            <a:fgClr>
              <a:srgbClr val="FFFFFF"/>
            </a:fgClr>
            <a:bgClr>
              <a:srgbClr val="4D6BFE"/>
            </a:bgClr>
          </a:pattFill>
          <a:ln w="9525">
            <a:solidFill>
              <a:srgbClr val="3D5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8244" y="4208536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  <a:ea typeface="Noto Sans SC"/>
                <a:cs typeface="Noto Sans SC"/>
              </a:rPr>
              <a:t>0.67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2157" y="4272992"/>
            <a:ext cx="607869" cy="993951"/>
          </a:xfrm>
          <a:prstGeom prst="rect">
            <a:avLst/>
          </a:prstGeom>
          <a:solidFill>
            <a:srgbClr val="AAC1FF"/>
          </a:solidFill>
          <a:ln w="9525">
            <a:solidFill>
              <a:srgbClr val="889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09005" y="4080968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0.79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72918" y="4008729"/>
            <a:ext cx="607869" cy="1258214"/>
          </a:xfrm>
          <a:prstGeom prst="rect">
            <a:avLst/>
          </a:prstGeom>
          <a:solidFill>
            <a:srgbClr val="BDBDBD"/>
          </a:solidFill>
          <a:ln w="9525">
            <a:solidFill>
              <a:srgbClr val="9797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99765" y="3816705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3678" y="3802745"/>
            <a:ext cx="607869" cy="1464198"/>
          </a:xfrm>
          <a:prstGeom prst="rect">
            <a:avLst/>
          </a:prstGeom>
          <a:solidFill>
            <a:srgbClr val="D4D4D4"/>
          </a:solidFill>
          <a:ln w="9525">
            <a:solidFill>
              <a:srgbClr val="A9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0526" y="3610721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" y="5330952"/>
            <a:ext cx="3369563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b1_s4096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60960" y="4455238"/>
            <a:ext cx="607869" cy="811705"/>
          </a:xfrm>
          <a:prstGeom prst="rect">
            <a:avLst/>
          </a:prstGeom>
          <a:pattFill prst="wdUpDiag">
            <a:fgClr>
              <a:srgbClr val="FFFFFF"/>
            </a:fgClr>
            <a:bgClr>
              <a:srgbClr val="4D6BFE"/>
            </a:bgClr>
          </a:pattFill>
          <a:ln w="9525">
            <a:solidFill>
              <a:srgbClr val="3D5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7808" y="4235782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  <a:ea typeface="Noto Sans SC"/>
                <a:cs typeface="Noto Sans SC"/>
              </a:rPr>
              <a:t>0.65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51721" y="4275403"/>
            <a:ext cx="607869" cy="991540"/>
          </a:xfrm>
          <a:prstGeom prst="rect">
            <a:avLst/>
          </a:prstGeom>
          <a:solidFill>
            <a:srgbClr val="AAC1FF"/>
          </a:solidFill>
          <a:ln w="9525">
            <a:solidFill>
              <a:srgbClr val="889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78569" y="4083379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0.79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2481" y="4008729"/>
            <a:ext cx="607869" cy="1258214"/>
          </a:xfrm>
          <a:prstGeom prst="rect">
            <a:avLst/>
          </a:prstGeom>
          <a:solidFill>
            <a:srgbClr val="BDBDBD"/>
          </a:solidFill>
          <a:ln w="9525">
            <a:solidFill>
              <a:srgbClr val="9797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69329" y="3816705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33242" y="3865650"/>
            <a:ext cx="607869" cy="1401293"/>
          </a:xfrm>
          <a:prstGeom prst="rect">
            <a:avLst/>
          </a:prstGeom>
          <a:solidFill>
            <a:srgbClr val="D4D4D4"/>
          </a:solidFill>
          <a:ln w="9525">
            <a:solidFill>
              <a:srgbClr val="A9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0090" y="3673626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7700" y="5330952"/>
            <a:ext cx="3369563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b1_s8192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30524" y="3921321"/>
            <a:ext cx="607869" cy="1345622"/>
          </a:xfrm>
          <a:prstGeom prst="rect">
            <a:avLst/>
          </a:prstGeom>
          <a:pattFill prst="wdUpDiag">
            <a:fgClr>
              <a:srgbClr val="FFFFFF"/>
            </a:fgClr>
            <a:bgClr>
              <a:srgbClr val="4D6BFE"/>
            </a:bgClr>
          </a:pattFill>
          <a:ln w="9525">
            <a:solidFill>
              <a:srgbClr val="3D5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57372" y="3701865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  <a:ea typeface="Noto Sans SC"/>
                <a:cs typeface="Noto Sans SC"/>
              </a:rPr>
              <a:t>1.07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21285" y="3859399"/>
            <a:ext cx="607869" cy="1407544"/>
          </a:xfrm>
          <a:prstGeom prst="rect">
            <a:avLst/>
          </a:prstGeom>
          <a:solidFill>
            <a:srgbClr val="AAC1FF"/>
          </a:solidFill>
          <a:ln w="9525">
            <a:solidFill>
              <a:srgbClr val="889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48133" y="3667375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12045" y="4008729"/>
            <a:ext cx="607869" cy="1258214"/>
          </a:xfrm>
          <a:prstGeom prst="rect">
            <a:avLst/>
          </a:prstGeom>
          <a:solidFill>
            <a:srgbClr val="BDBDBD"/>
          </a:solidFill>
          <a:ln w="9525">
            <a:solidFill>
              <a:srgbClr val="9797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38893" y="3816705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02806" y="3192582"/>
            <a:ext cx="607869" cy="2074361"/>
          </a:xfrm>
          <a:prstGeom prst="rect">
            <a:avLst/>
          </a:prstGeom>
          <a:solidFill>
            <a:srgbClr val="D4D4D4"/>
          </a:solidFill>
          <a:ln w="9525">
            <a:solidFill>
              <a:srgbClr val="A9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29654" y="3000558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1.65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27263" y="5330952"/>
            <a:ext cx="3369563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b4_s4096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500088" y="3734717"/>
            <a:ext cx="607869" cy="1532226"/>
          </a:xfrm>
          <a:prstGeom prst="rect">
            <a:avLst/>
          </a:prstGeom>
          <a:pattFill prst="wdUpDiag">
            <a:fgClr>
              <a:srgbClr val="FFFFFF"/>
            </a:fgClr>
            <a:bgClr>
              <a:srgbClr val="4D6BFE"/>
            </a:bgClr>
          </a:pattFill>
          <a:ln w="9525">
            <a:solidFill>
              <a:srgbClr val="3D55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26936" y="3515261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Times New Roman"/>
                <a:ea typeface="Noto Sans SC"/>
                <a:cs typeface="Noto Sans SC"/>
              </a:rPr>
              <a:t>1.22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190849" y="3535722"/>
            <a:ext cx="607869" cy="1731221"/>
          </a:xfrm>
          <a:prstGeom prst="rect">
            <a:avLst/>
          </a:prstGeom>
          <a:solidFill>
            <a:srgbClr val="AAC1FF"/>
          </a:solidFill>
          <a:ln w="9525">
            <a:solidFill>
              <a:srgbClr val="889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117697" y="3343698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881609" y="4008729"/>
            <a:ext cx="607869" cy="1258214"/>
          </a:xfrm>
          <a:prstGeom prst="rect">
            <a:avLst/>
          </a:prstGeom>
          <a:solidFill>
            <a:srgbClr val="BDBDBD"/>
          </a:solidFill>
          <a:ln w="9525">
            <a:solidFill>
              <a:srgbClr val="9797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808457" y="3816705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572370" y="2778606"/>
            <a:ext cx="607869" cy="2488337"/>
          </a:xfrm>
          <a:prstGeom prst="rect">
            <a:avLst/>
          </a:prstGeom>
          <a:solidFill>
            <a:srgbClr val="D4D4D4"/>
          </a:solidFill>
          <a:ln w="9525">
            <a:solidFill>
              <a:srgbClr val="A9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9218" y="2586582"/>
            <a:ext cx="754173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1.98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96828" y="5330952"/>
            <a:ext cx="3369563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b4_s8192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" y="5632704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核时取倒数、按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归一；核时来源：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667512" y="6199632"/>
          <a:ext cx="8549640" cy="1828800"/>
        </p:xfrm>
        <a:graphic>
          <a:graphicData uri="http://schemas.openxmlformats.org/drawingml/2006/table">
            <a:tbl>
              <a:tblPr/>
              <a:tblGrid>
                <a:gridCol w="123444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415AD7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v4-det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187.8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590.6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2327.3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1257.1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2527.7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5286.7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9834.3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90A4D8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v4-nd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138.9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1905.2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1087.5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2416.5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4984.0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8703.9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A0A0A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opst-det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393.8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1501.4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922.6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2703.3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5444.3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11976.0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B4B4B4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opst-nd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338.4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1348.1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775.8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1639.7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3875.9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6055.6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1" name="TextBox 60"/>
          <p:cNvSpPr txBox="1"/>
          <p:nvPr/>
        </p:nvSpPr>
        <p:spPr>
          <a:xfrm>
            <a:off x="667512" y="8083296"/>
            <a:ext cx="8823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2640" y="6199632"/>
            <a:ext cx="4892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这张图怎么读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9692640" y="6601968"/>
          <a:ext cx="4526280" cy="2267712"/>
        </p:xfrm>
        <a:graphic>
          <a:graphicData uri="http://schemas.openxmlformats.org/drawingml/2006/table">
            <a:tbl>
              <a:tblPr/>
              <a:tblGrid>
                <a:gridCol w="1234440"/>
                <a:gridCol w="3291840"/>
              </a:tblGrid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对比范围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本仓库自身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v4-det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相比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v4-nd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的核时开销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1.05–1.39×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更小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参考仓库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/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opst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1.35–1.55×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v4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核时反超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3–18%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口径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/ 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profiling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event record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混用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结论：确定性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BN2S2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的开销随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增大而收敛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核时反超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更快；非确定路径差距是分支既有问题，与本重构无关。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