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5240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0.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总览：</a:t>
            </a:r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7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种任务索引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同一个问题：给定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(round, core)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，这一轮这条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该算哪一块？七种规则给出七种分派方式。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572768"/>
          <a:ext cx="9052560" cy="4498848"/>
        </p:xfrm>
        <a:graphic>
          <a:graphicData uri="http://schemas.openxmlformats.org/drawingml/2006/table">
            <a:tbl>
              <a:tblPr/>
              <a:tblGrid>
                <a:gridCol w="2212848"/>
                <a:gridCol w="1097280"/>
                <a:gridCol w="1097280"/>
                <a:gridCol w="1280160"/>
                <a:gridCol w="822960"/>
                <a:gridCol w="822960"/>
                <a:gridCol w="1719072"/>
              </a:tblGrid>
              <a:tr h="530352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layout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MHA/GQA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总轮数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低位先走哪个轴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 Dense Swizzle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 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 Dense Index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 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批次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3. Causal Swizzle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fold 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后）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4. Left-Up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 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列（同方形）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5. GQA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否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（切片）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6. TND Dense Swizzle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本批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7. TND GQA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否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展平索引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" y="6510528"/>
            <a:ext cx="13898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所有规则都是纯算术：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(round, core)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一确定，结果就唯一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这就是确定性的来源。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6876288"/>
            <a:ext cx="905256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表中「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causal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」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=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本页例子的形状；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GQA / TND-GQA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causal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由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epilogue mask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处理。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7223760"/>
            <a:ext cx="1188720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怎么读后面的例子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7699248"/>
            <a:ext cx="90525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页先认公用的轴遍历顺序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 → n2 → s2 → s1 → d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，以及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dS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的一列怎么变成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dK/dV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的一行。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8083296"/>
            <a:ext cx="90525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算法页：伪代码讲逻辑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任务矩阵（行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round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，列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core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→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为什么这样分。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8467344"/>
            <a:ext cx="90525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例子页：网格纵轴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、横轴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，格内写「哪条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/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第几轮」；灰格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这一轮这条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空闲。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8851392"/>
            <a:ext cx="90525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颜色只编码两个轴：颜色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哪个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，同一个颜色的深浅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第几条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列（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）；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不参与配色。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1572768"/>
            <a:ext cx="49377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0104120" y="1975104"/>
          <a:ext cx="4572000" cy="2816352"/>
        </p:xfrm>
        <a:graphic>
          <a:graphicData uri="http://schemas.openxmlformats.org/drawingml/2006/table">
            <a:tbl>
              <a:tblPr/>
              <a:tblGrid>
                <a:gridCol w="960120"/>
                <a:gridCol w="3611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记号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含义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N2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KV head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里的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Q head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Q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方向第几块（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128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KV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方向第几块（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128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head dim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，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tile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内不切分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104120" y="5138928"/>
            <a:ext cx="49377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每个例子都满足的三条不变量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104120" y="5541264"/>
          <a:ext cx="4572000" cy="1901952"/>
        </p:xfrm>
        <a:graphic>
          <a:graphicData uri="http://schemas.openxmlformats.org/drawingml/2006/table">
            <a:tbl>
              <a:tblPr/>
              <a:tblGrid>
                <a:gridCol w="1600200"/>
                <a:gridCol w="2971800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不变量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含义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每个块只被派给一个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(round, core)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各核这一轮写的输出块互不相同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swizzle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类：一条列只归一条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0104120" y="7717536"/>
            <a:ext cx="49377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七种规则归成三条路线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0104120" y="8119871"/>
          <a:ext cx="4572000" cy="1901952"/>
        </p:xfrm>
        <a:graphic>
          <a:graphicData uri="http://schemas.openxmlformats.org/drawingml/2006/table">
            <a:tbl>
              <a:tblPr/>
              <a:tblGrid>
                <a:gridCol w="1508760"/>
                <a:gridCol w="3063240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路线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用它的规则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 Dense Swizzle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 Left-Up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 TND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切片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+ gcd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修正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 GQA Dense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（核数不受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块数限制）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按面积展平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 TND GQA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（变长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，不分列）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1.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轴遍历顺序与</a:t>
            </a:r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dS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分块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七种规则共用同一个铺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task id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的顺序：</a:t>
            </a:r>
            <a:r>
              <a: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外层慢、内层快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。先认这个顺序，后面的分派才看得懂。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08176"/>
            <a:ext cx="8229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83664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最外层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38528" y="1591056"/>
            <a:ext cx="329184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313432" y="1408176"/>
            <a:ext cx="8229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n2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7984" y="1883664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KV head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82112" y="1591056"/>
            <a:ext cx="329184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7016" y="1408176"/>
            <a:ext cx="8229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883664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一条</a:t>
            </a:r>
            <a:r>
              <a:rPr sz="12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2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25696" y="1591056"/>
            <a:ext cx="329184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00600" y="1408176"/>
            <a:ext cx="8229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883664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列内逐行走</a:t>
            </a:r>
            <a:r>
              <a:rPr sz="12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0" y="1591056"/>
            <a:ext cx="329184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44184" y="1408176"/>
            <a:ext cx="8229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1883664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2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内最内层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212848"/>
            <a:ext cx="768096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低位先走内层轴：同一轮里各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拿到连续的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task id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，落在相邻的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列上。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596896"/>
            <a:ext cx="292608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① task id 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铺开的顺序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554480" y="3017520"/>
          <a:ext cx="2487168" cy="2487168"/>
        </p:xfrm>
        <a:graphic>
          <a:graphicData uri="http://schemas.openxmlformats.org/drawingml/2006/table">
            <a:tbl>
              <a:tblPr/>
              <a:tblGrid>
                <a:gridCol w="621792"/>
                <a:gridCol w="621792"/>
                <a:gridCol w="621792"/>
                <a:gridCol w="621792"/>
              </a:tblGrid>
              <a:tr h="621792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</a:tr>
            </a:tbl>
          </a:graphicData>
        </a:graphic>
      </p:graphicFrame>
      <p:cxnSp>
        <p:nvCxnSpPr>
          <p:cNvPr id="21" name="Connector 20"/>
          <p:cNvCxnSpPr/>
          <p:nvPr/>
        </p:nvCxnSpPr>
        <p:spPr>
          <a:xfrm>
            <a:off x="1133856" y="3017520"/>
            <a:ext cx="0" cy="2066544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4904" y="3913631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596896"/>
            <a:ext cx="292608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② 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分派：颜色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core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394960" y="3017520"/>
          <a:ext cx="2487168" cy="2487168"/>
        </p:xfrm>
        <a:graphic>
          <a:graphicData uri="http://schemas.openxmlformats.org/drawingml/2006/table">
            <a:tbl>
              <a:tblPr/>
              <a:tblGrid>
                <a:gridCol w="621792"/>
                <a:gridCol w="621792"/>
                <a:gridCol w="621792"/>
                <a:gridCol w="621792"/>
              </a:tblGrid>
              <a:tr h="621792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FA8A0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FA8A0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FA8A0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554480" y="5724144"/>
            <a:ext cx="54864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③ dS 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的一列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→ dK/dV 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的一行（同一个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块）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554480" y="6144768"/>
          <a:ext cx="2487168" cy="2487168"/>
        </p:xfrm>
        <a:graphic>
          <a:graphicData uri="http://schemas.openxmlformats.org/drawingml/2006/table">
            <a:tbl>
              <a:tblPr/>
              <a:tblGrid>
                <a:gridCol w="621792"/>
                <a:gridCol w="621792"/>
                <a:gridCol w="621792"/>
                <a:gridCol w="621792"/>
              </a:tblGrid>
              <a:tr h="621792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645152" y="6144768"/>
          <a:ext cx="1243584" cy="2487168"/>
        </p:xfrm>
        <a:graphic>
          <a:graphicData uri="http://schemas.openxmlformats.org/drawingml/2006/table">
            <a:tbl>
              <a:tblPr/>
              <a:tblGrid>
                <a:gridCol w="621792"/>
                <a:gridCol w="621792"/>
              </a:tblGrid>
              <a:tr h="621792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</a:tbl>
          </a:graphicData>
        </a:graphic>
      </p:graphicFrame>
      <p:cxnSp>
        <p:nvCxnSpPr>
          <p:cNvPr id="28" name="Connector 27"/>
          <p:cNvCxnSpPr/>
          <p:nvPr/>
        </p:nvCxnSpPr>
        <p:spPr>
          <a:xfrm>
            <a:off x="4114800" y="8321040"/>
            <a:ext cx="457200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35040" y="6236207"/>
            <a:ext cx="20116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dS 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的每一列（固定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
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走完所有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）累加成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
dK/dV 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的一行。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
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所以这一列必须由同一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
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条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顺序算完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——
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这就是「列私有」。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
D 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方向不切分，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
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所以只画一格。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1463040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1810512"/>
            <a:ext cx="48920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低位走内层轴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同一轮各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拿到连续的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task id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103120"/>
            <a:ext cx="48920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落在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相邻的</a:t>
            </a:r>
            <a:r>
              <a:rPr sz="13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（或相邻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）上。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395728"/>
            <a:ext cx="48920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一条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在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轮内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task id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不变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它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守着同一条列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688336"/>
            <a:ext cx="48920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列内把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走一遍，这才是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“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单核顺序累加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”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980944"/>
            <a:ext cx="48920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出现在多条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里，是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不同轮、不同</a:t>
            </a:r>
            <a:r>
              <a:rPr sz="13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273552"/>
            <a:ext cx="48920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同一条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内部它始终是同一列连续多轮。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91363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9692640" y="4315968"/>
          <a:ext cx="4800600" cy="1737360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空泡不是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mask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没派活；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 =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派了不累加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692640" y="6419088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task id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展开（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个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9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个块）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9692640" y="6821424"/>
          <a:ext cx="4800600" cy="3657600"/>
        </p:xfrm>
        <a:graphic>
          <a:graphicData uri="http://schemas.openxmlformats.org/drawingml/2006/table">
            <a:tbl>
              <a:tblPr/>
              <a:tblGrid>
                <a:gridCol w="1051560"/>
                <a:gridCol w="640080"/>
                <a:gridCol w="777240"/>
                <a:gridCol w="822960"/>
                <a:gridCol w="822960"/>
                <a:gridCol w="68580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task id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N2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后面每种规则，只是把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“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低位先走哪个轴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”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换一下；换法不同，就得到不同的分派与不同的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分布。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①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里的数字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task id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顺序；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②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颜色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core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，格内写第几轮算它。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③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是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“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列私有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”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的理由：一个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块的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dK/dV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由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</a:t>
            </a:r>
            <a:r>
              <a:rPr sz="16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dS </a:t>
            </a:r>
            <a:r>
              <a: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的一整列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累加而来。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2. Dense Swizzle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：列私有</a:t>
            </a:r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swizzle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batch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36804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BSND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3572" y="1444752"/>
            <a:ext cx="107086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非 causal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2452" y="1444752"/>
            <a:ext cx="76708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MHA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7548" y="1444752"/>
            <a:ext cx="128879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dk/dv 列私有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47088"/>
            <a:ext cx="8778240" cy="18333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S1 块数 m=3, S2 块数 n=3, batch 数 b=2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(round r, core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task id = ((r-1) / m) * k + (j-1)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每个 m 轮跨度内不变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第几列 = task id % n + 1        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低位先走 S2 列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第几批 = task id / n + 1        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列走完才换 batch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第几行 = (第几列-1 + r-1) % m + 1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列内 S1 每轮往下走一行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</a:t>
            </a: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输出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: B, N2, G, S1=第几行, S2=第几列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" y="3954780"/>
          <a:ext cx="8522206" cy="4572000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7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8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9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" y="8801100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9130284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低位是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同一轮里相邻的核落在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相邻两列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上；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9404604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task id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在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轮内不变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一条核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守死一条列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，列内把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走一遍。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9678924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出现在多条核上，是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不同</a:t>
            </a:r>
            <a:r>
              <a:rPr sz="13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/ 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不同轮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41879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332720" y="4590288"/>
          <a:ext cx="4297679" cy="18288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0332720" y="6711696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Dense Swizzle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还是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Dense Index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？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0332720" y="7114032"/>
          <a:ext cx="4297680" cy="2377440"/>
        </p:xfrm>
        <a:graphic>
          <a:graphicData uri="http://schemas.openxmlformats.org/drawingml/2006/table">
            <a:tbl>
              <a:tblPr/>
              <a:tblGrid>
                <a:gridCol w="1207008"/>
                <a:gridCol w="3090672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判据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两条规则的区别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低位先走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Swizzle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  ·   Index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批次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同一轮各核落在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Swizzle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：同一个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的不同列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Index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：同一条列的不同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什么时候选它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Swizzle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：核数不多，一条核守死一条列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Index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：核数超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块数时用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 ★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67512" y="10259568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低位走列：同一轮里各核是同一个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的不同列；一条核守死一条列，列内把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走完。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2. Dense Swizzle ——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把任务矩阵摊到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S1×S2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平面上：纵轴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、横轴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；颜色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batch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，同一个颜色的深浅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第几条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列，格内是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与轮次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98448" y="2377440"/>
            <a:ext cx="0" cy="2176272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" y="3328416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719072"/>
            <a:ext cx="2176272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5157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285232"/>
            <a:ext cx="67208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920240" y="5687568"/>
          <a:ext cx="635508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434340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692640" y="3127248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(B=1 S2=3)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  (B=2 S2=1)  (B=2 S2=3)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692640" y="4681728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692640" y="5084064"/>
          <a:ext cx="4800600" cy="1645919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空泡不是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mask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没派活；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 =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派了不累加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920240" y="7644384"/>
            <a:ext cx="63550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每核每轮守哪条列（表头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第几轮）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920240" y="8046720"/>
          <a:ext cx="6355080" cy="877824"/>
        </p:xfrm>
        <a:graphic>
          <a:graphicData uri="http://schemas.openxmlformats.org/drawingml/2006/table">
            <a:tbl>
              <a:tblPr/>
              <a:tblGrid>
                <a:gridCol w="960120"/>
                <a:gridCol w="599440"/>
                <a:gridCol w="599440"/>
                <a:gridCol w="599440"/>
                <a:gridCol w="599440"/>
                <a:gridCol w="599440"/>
                <a:gridCol w="599440"/>
                <a:gridCol w="599440"/>
                <a:gridCol w="599440"/>
                <a:gridCol w="599440"/>
              </a:tblGrid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692640" y="7168896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692640" y="7571231"/>
          <a:ext cx="4800600" cy="2011680"/>
        </p:xfrm>
        <a:graphic>
          <a:graphicData uri="http://schemas.openxmlformats.org/drawingml/2006/table">
            <a:tbl>
              <a:tblPr/>
              <a:tblGrid>
                <a:gridCol w="3520440"/>
                <a:gridCol w="128016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低位走列：同一轮里各核是同一个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的不同列；一条核守死一条列，列内把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走完。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一行三格深浅不同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的三条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列；</a:t>
            </a:r>
            <a:r>
              <a:rPr sz="16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</a:t>
            </a:r>
            <a:r>
              <a: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不配色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，所以行内颜色一致。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条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各包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条列，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9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轮把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18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个块铺满。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3. Dense Index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：先分批再分列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4 ·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batch 2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&gt;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36804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BSND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3572" y="1444752"/>
            <a:ext cx="107086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非 causal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2452" y="1444752"/>
            <a:ext cx="76708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MHA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7548" y="1444752"/>
            <a:ext cx="128879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dk/dv 列私有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74360" y="1444752"/>
            <a:ext cx="143738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核数 &gt; S1 块数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847088"/>
            <a:ext cx="8778240" cy="18333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k=4, S1 块数 m=2, S2 块数 n=2, batch 数 b=2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(round r, core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task id = ((r-1) / m) * k + j   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1 起算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第几批 = task id % b，得 0 时取 b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低位先走 B（与上一页相反）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第几列 = ceil(task id / b)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第几行 = ((第几列-1) % m + (r-1) % m) % m + 1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</a:t>
            </a: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输出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: B, N2, G, S1=第几行, S2=第几列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" y="3954780"/>
          <a:ext cx="8522204" cy="1371600"/>
        </p:xfrm>
        <a:graphic>
          <a:graphicData uri="http://schemas.openxmlformats.org/drawingml/2006/table">
            <a:tbl>
              <a:tblPr/>
              <a:tblGrid>
                <a:gridCol w="1051560"/>
                <a:gridCol w="1867661"/>
                <a:gridCol w="1867661"/>
                <a:gridCol w="1867661"/>
                <a:gridCol w="1867661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7512" y="5600700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5929884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低位换成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→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同一轮各核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分属不同</a:t>
            </a:r>
            <a:r>
              <a:rPr sz="13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撞不到一起；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6204204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所以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核数可以超过</a:t>
            </a:r>
            <a:r>
              <a:rPr sz="13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，代价是列私有要靠切片保证。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41879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332720" y="4590288"/>
          <a:ext cx="4297679" cy="18288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0332720" y="6711696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Dense Swizzle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还是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Dense Index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？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0332720" y="7114032"/>
          <a:ext cx="4297680" cy="2377440"/>
        </p:xfrm>
        <a:graphic>
          <a:graphicData uri="http://schemas.openxmlformats.org/drawingml/2006/table">
            <a:tbl>
              <a:tblPr/>
              <a:tblGrid>
                <a:gridCol w="1207008"/>
                <a:gridCol w="3090672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判据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两条规则的区别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低位先走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Swizzle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  ·   Index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批次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同一轮各核落在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Swizzle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：同一个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的不同列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Index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：同一条列的不同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什么时候选它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Swizzle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：核数不多，一条核守死一条列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Index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：核数超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块数时用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 ★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67512" y="6771132"/>
            <a:ext cx="91440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67512" y="7173468"/>
          <a:ext cx="8778240" cy="1828800"/>
        </p:xfrm>
        <a:graphic>
          <a:graphicData uri="http://schemas.openxmlformats.org/drawingml/2006/table">
            <a:tbl>
              <a:tblPr/>
              <a:tblGrid>
                <a:gridCol w="868680"/>
                <a:gridCol w="79095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(B=2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67512" y="10259568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低位走批：同一轮里各核分属不同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，多出来的核用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维度消化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所以核数可以超过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块数。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3. Dense Index ——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同一个块集（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2 batch x 2x2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块）换成本页规则，只用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轮就铺满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98448" y="2377440"/>
            <a:ext cx="0" cy="2048256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" y="3264408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719072"/>
            <a:ext cx="2048256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C4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C4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5157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285232"/>
            <a:ext cx="67208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920240" y="5687568"/>
          <a:ext cx="635508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434340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692640" y="3127248"/>
          <a:ext cx="4800600" cy="2011680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(B=2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692640" y="5486400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692640" y="5888736"/>
          <a:ext cx="4800600" cy="1645919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空泡不是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mask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没派活；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 =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派了不累加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692640" y="7973568"/>
            <a:ext cx="4800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每核每轮守哪条列（表头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第几轮）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692640" y="8375904"/>
          <a:ext cx="4800600" cy="1463040"/>
        </p:xfrm>
        <a:graphic>
          <a:graphicData uri="http://schemas.openxmlformats.org/drawingml/2006/table">
            <a:tbl>
              <a:tblPr/>
              <a:tblGrid>
                <a:gridCol w="960120"/>
                <a:gridCol w="1920240"/>
                <a:gridCol w="1920240"/>
              </a:tblGrid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低位走批：同一轮里各核分属不同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，多出来的核用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维度消化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所以核数可以超过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块数。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4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条核各守一条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(B, S2)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列，每块只落在一条核上。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对比上一页：同轮各核从</a:t>
            </a:r>
            <a:r>
              <a: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</a:t>
            </a:r>
            <a:r>
              <a:rPr sz="16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的不同列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变成</a:t>
            </a:r>
            <a:r>
              <a: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同一条列的不同</a:t>
            </a:r>
            <a:r>
              <a:rPr sz="16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4a.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虚拟列与虚拟行：折叠出来的坐标系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折叠把两个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的三角拼成一个满矩形；矩形里的行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/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列不属于任何单个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，所以叫虚拟行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/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虚拟列。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2834640"/>
          <a:ext cx="2194560" cy="219456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4088" y="2414016"/>
            <a:ext cx="21945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① B=1 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的三角（真实坐标）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19272" y="2834640"/>
          <a:ext cx="2194560" cy="219456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55848" y="2414016"/>
            <a:ext cx="21945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② B=2 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的三角（真实坐标）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23560" y="4069080"/>
            <a:ext cx="411480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2834640"/>
          <a:ext cx="3017520" cy="2414016"/>
        </p:xfrm>
        <a:graphic>
          <a:graphicData uri="http://schemas.openxmlformats.org/drawingml/2006/table">
            <a:tbl>
              <a:tblPr/>
              <a:tblGrid>
                <a:gridCol w="603504"/>
                <a:gridCol w="603504"/>
                <a:gridCol w="603504"/>
                <a:gridCol w="603504"/>
                <a:gridCol w="603504"/>
              </a:tblGrid>
              <a:tr h="603504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9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9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9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9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9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60350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9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60350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9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63056" y="2414016"/>
            <a:ext cx="30175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③ 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拼成满矩形：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4 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条虚拟列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5852160"/>
            <a:ext cx="91440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每条虚拟列由哪些格拼出来（对照一行普通列）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7512" y="6254496"/>
          <a:ext cx="8778240" cy="2523744"/>
        </p:xfrm>
        <a:graphic>
          <a:graphicData uri="http://schemas.openxmlformats.org/drawingml/2006/table">
            <a:tbl>
              <a:tblPr/>
              <a:tblGrid>
                <a:gridCol w="1783080"/>
                <a:gridCol w="3154680"/>
                <a:gridCol w="1463040"/>
                <a:gridCol w="2377440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一条列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由哪些格组成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跨几个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要几个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buffer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普通列（对照）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格全是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(B=1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格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(B=1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格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(B=1 S2=2) + 1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格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(B=2 S2=3)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格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(B=1 S2=3) + 2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格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格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(B=2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692640" y="2377440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普通列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/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行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与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虚拟列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/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行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的区别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692640" y="2779776"/>
          <a:ext cx="4800600" cy="237744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1600200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普通的列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/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/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坐标是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真实坐标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(B, S1, S2)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折叠矩形里的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虚拟坐标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一条上面有几个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只有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个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可能跨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个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一条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守它时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只往一个输出块累加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可能同时往两个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的输出块累加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长度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一个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的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或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矩形的高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/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宽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9692640" y="5394960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虚拟行又是什么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692640" y="5797296"/>
          <a:ext cx="4800599" cy="1901952"/>
        </p:xfrm>
        <a:graphic>
          <a:graphicData uri="http://schemas.openxmlformats.org/drawingml/2006/table">
            <a:tbl>
              <a:tblPr/>
              <a:tblGrid>
                <a:gridCol w="1874519"/>
                <a:gridCol w="2926080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说明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折叠矩形里的行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不是某个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的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左上对齐（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 &gt; S2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虚拟高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2m-n+1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：多出来的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行装配对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的镜像格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整个虚拟矩形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都派活、零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idle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；折叠只覆盖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区，不用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mask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692640" y="7973568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两条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causal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规则各折成什么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9692640" y="8375904"/>
          <a:ext cx="4800600" cy="1591055"/>
        </p:xfrm>
        <a:graphic>
          <a:graphicData uri="http://schemas.openxmlformats.org/drawingml/2006/table">
            <a:tbl>
              <a:tblPr/>
              <a:tblGrid>
                <a:gridCol w="2148840"/>
                <a:gridCol w="2651760"/>
              </a:tblGrid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折叠出来的矩形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 = S2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虚拟宽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n+1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：两个三角正好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凑满，没有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idle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 &gt; S2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虚拟高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2m-n+1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：多出来的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行是镜像格，同样零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idle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67512" y="9436608"/>
            <a:ext cx="8869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虚拟列是折叠的产物：核按虚拟列分派，同一列的格子可能落在两个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上。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普通列只属于一个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；跨两个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的虚拟列要</a:t>
            </a:r>
            <a:r>
              <a: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两个累加</a:t>
            </a:r>
            <a:r>
              <a:rPr sz="15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buffer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（只跨一个的仍只要一个）。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折回真实坐标时</a:t>
            </a:r>
            <a:r>
              <a: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行列会翻转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（右上那片三角），所以格内写它最终落到哪一块。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4. Causal Swizzle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：因果折叠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batch 2 · causal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36804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BSND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3572" y="1444752"/>
            <a:ext cx="151993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causal（方形）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1524" y="1444752"/>
            <a:ext cx="76708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MHA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6620" y="1444752"/>
            <a:ext cx="183362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buffer 2 个 (parity)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8262" y="1444752"/>
            <a:ext cx="255016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可达性 ↪ 仅 Left-Up 内部委托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847088"/>
            <a:ext cx="8778240" cy="2048255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S1 块数 m=3, S2 块数 n=3, batch 数 b=2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第 1 步：把相邻两个 batch 折成一个虚拟矩形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虚拟宽 = n+1 = 4 列,  虚拟高 = m = 3 行,  虚拟 batch 数 = b/2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第 2 步：在虚拟矩形里按“列私有”规则取 task（同 Dense Swizzle）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第 3 步：把虚拟坐标折回真实坐标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</a:t>
            </a: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如果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虚拟行 &gt;= 虚拟列+1: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右上三角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    batch = 2*虚拟批; 行 = m+1-虚拟行; 列 = 2n-m-虚拟列+2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</a:t>
            </a: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否则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: batch = 2*虚拟批-1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左下三角，行列照抄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" y="4169663"/>
          <a:ext cx="8522206" cy="3200400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7512" y="7644383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7973567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fold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把两个相邻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的三角拼成一个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</a:t>
            </a:r>
            <a:r>
              <a:rPr sz="13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m x (n+1) 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的满矩形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task id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在矩形里照排；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8247887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奇数列用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parity-0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、偶数列用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parity-1 buffer →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一条核在两个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间来回切。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8522207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矩形是满的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没有</a:t>
            </a:r>
            <a:r>
              <a:rPr sz="13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、也不用打</a:t>
            </a:r>
            <a:r>
              <a:rPr sz="13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mask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1879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332720" y="4590288"/>
          <a:ext cx="4297679" cy="18288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332720" y="6711696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同一形状下其它规则能不能用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332720" y="7114032"/>
          <a:ext cx="4297680" cy="2852928"/>
        </p:xfrm>
        <a:graphic>
          <a:graphicData uri="http://schemas.openxmlformats.org/drawingml/2006/table">
            <a:tbl>
              <a:tblPr/>
              <a:tblGrid>
                <a:gridCol w="1188720"/>
                <a:gridCol w="768096"/>
                <a:gridCol w="2340864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本形状下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本例是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本例是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★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偶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也能用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偶、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S1=S2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Dense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67512" y="10259568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两个三角正好拼成一个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行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n+1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列的满矩形：没有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槽位、也不用打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mask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。（它只作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Left-Up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的内部委托，不单独被选中）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4. Causal Swizzle ——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先看下面的虚拟矩形（两个三角拼成的满矩形），再对照上面两张真实的块图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98448" y="2377440"/>
            <a:ext cx="0" cy="2176272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" y="3328416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719072"/>
            <a:ext cx="2176272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5157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920240" y="5715000"/>
          <a:ext cx="4800600" cy="2267712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  <a:gridCol w="960120"/>
              </a:tblGrid>
              <a:tr h="566928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956816" y="5294376"/>
            <a:ext cx="4800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fold </a:t>
            </a:r>
            <a:r>
              <a:rPr sz="13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后的虚拟矩形（行</a:t>
            </a:r>
            <a:r>
              <a:rPr sz="13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</a:t>
            </a:r>
            <a:r>
              <a:rPr sz="13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3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，列</a:t>
            </a:r>
            <a:r>
              <a:rPr sz="13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</a:t>
            </a:r>
            <a:r>
              <a:rPr sz="13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3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692640" y="3127248"/>
          <a:ext cx="480060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692640" y="5084064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692640" y="5486400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(B=1 S2=3)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  (B=2 S2=1)  (B=2 S2=3)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692640" y="7040879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692640" y="7443215"/>
          <a:ext cx="4800600" cy="1645919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空泡不是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mask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没派活；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 =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派了不累加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两个三角正好拼成一个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行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n+1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列的满矩形：没有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槽位、也不用打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mask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。（它只作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Left-Up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的内部委托，不单独被选中）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同一个格子在两张真实图上各出现一次（颜色不同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batch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不同）。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灰格</a:t>
            </a:r>
            <a:r>
              <a:rPr sz="16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causal </a:t>
            </a:r>
            <a:r>
              <a: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区外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（打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mask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，不加）；一条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在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间来回切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每核要</a:t>
            </a:r>
            <a:r>
              <a: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两个</a:t>
            </a:r>
            <a:r>
              <a:rPr sz="16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buffer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5. Left-Up Causal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：左上对齐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batch 2 · causal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36804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BSND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3572" y="1444752"/>
            <a:ext cx="173456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causal（S1 = S2）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6154" y="1444752"/>
            <a:ext cx="76708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MHA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21250" y="1444752"/>
            <a:ext cx="217703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 = S2 时 委托方形折叠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6300" y="1444752"/>
            <a:ext cx="183362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buffer 2 个 (parity)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7942" y="1444752"/>
            <a:ext cx="2437892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可达性 ★ 偶 batch 且 S1 = S2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1847088"/>
            <a:ext cx="8778240" cy="16184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S1 块数 m=3, S2 块数 n=3, batch 数 b=2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如果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m &lt;= n: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本例 3 &lt;= 3 成立 → 走这一支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直接套用 Causal Swizzle（方形折叠，见 4 节）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虚拟宽 = n+1 = 4 列,  虚拟高 = m = 3 行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折回真实坐标、列内走完 S1 —— 与 4 节同一套公式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否则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(S1 更长, 虚拟高 = 2m-n+1):  才启用左上几何（见 5b 页）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67512" y="3739896"/>
          <a:ext cx="8522206" cy="3200400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67512" y="7214616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7543800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本例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= S2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m &lt;= n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→ 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直接委托给方形折叠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，不启用左上几何；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7818120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所以分派结果和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4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节完全一样：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虚拟宽</a:t>
            </a:r>
            <a:r>
              <a:rPr sz="13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n+1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、零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、不用打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mask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1879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332720" y="4590288"/>
          <a:ext cx="4297679" cy="18288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332720" y="6711696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同一形状下其它规则能不能用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332720" y="7114032"/>
          <a:ext cx="4297680" cy="2852928"/>
        </p:xfrm>
        <a:graphic>
          <a:graphicData uri="http://schemas.openxmlformats.org/drawingml/2006/table">
            <a:tbl>
              <a:tblPr/>
              <a:tblGrid>
                <a:gridCol w="1188720"/>
                <a:gridCol w="768096"/>
                <a:gridCol w="2340864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本形状下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本例是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本例是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也能用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偶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★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偶、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S1=S2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Dense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67512" y="8385048"/>
            <a:ext cx="91440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67512" y="8787384"/>
          <a:ext cx="8778240" cy="1097280"/>
        </p:xfrm>
        <a:graphic>
          <a:graphicData uri="http://schemas.openxmlformats.org/drawingml/2006/table">
            <a:tbl>
              <a:tblPr/>
              <a:tblGrid>
                <a:gridCol w="868680"/>
                <a:gridCol w="79095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(B=1 S2=3)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  (B=2 S2=1)  (B=2 S2=3)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67512" y="10259568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S1 = S2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时它不做自己的几何：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直接委托给方形折叠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，结果与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4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节一致。（选择器：偶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且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S1 = S2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才选它）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5. Left-Up Causal ——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形状与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4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节相同（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S2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），因为这一支就是委托方形折叠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对照两页可以确认结果一致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98448" y="2377440"/>
            <a:ext cx="0" cy="2176272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" y="3328416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719072"/>
            <a:ext cx="2176272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5157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920240" y="5715000"/>
          <a:ext cx="4800600" cy="2267712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  <a:gridCol w="960120"/>
              </a:tblGrid>
              <a:tr h="566928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956816" y="5294376"/>
            <a:ext cx="4800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fold </a:t>
            </a:r>
            <a:r>
              <a:rPr sz="13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后的虚拟矩形（行</a:t>
            </a:r>
            <a:r>
              <a:rPr sz="13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</a:t>
            </a:r>
            <a:r>
              <a:rPr sz="13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3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，列</a:t>
            </a:r>
            <a:r>
              <a:rPr sz="13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</a:t>
            </a:r>
            <a:r>
              <a:rPr sz="13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3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692640" y="3127248"/>
          <a:ext cx="480060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692640" y="5084064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692640" y="5486400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(B=1 S2=3)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  (B=2 S2=1)  (B=2 S2=3)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692640" y="7040879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692640" y="7443215"/>
          <a:ext cx="4800600" cy="1645919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空泡不是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mask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没派活；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 =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派了不累加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S1 = S2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时它不做自己的几何：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直接委托给方形折叠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，结果与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4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节一致。（选择器：偶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且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S1 = S2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才选它）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</a:t>
            </a:r>
            <a:r>
              <a:rPr sz="16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(B, S1, S2) </a:t>
            </a:r>
            <a:r>
              <a: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集合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，与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4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节的例子逐格相同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委托就是这条路。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区别只在调度器怎么选：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时它可能落到这条规则上，再走进方形折叠。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5b. Left-Up Causal ——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非方形例子（</a:t>
            </a:r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 4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· S2 3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块）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上一页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= S2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，走的是委托的方形折叠；这一页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&gt; S2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，才是它自己的几何：虚拟高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2m-n+1 = 6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115568"/>
            <a:ext cx="493776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3931"/>
                </a:solidFill>
                <a:latin typeface="Times New Roman"/>
                <a:ea typeface="Noto Sans SC"/>
                <a:cs typeface="Noto Sans SC"/>
              </a:rPr>
              <a:t>⚠ </a:t>
            </a:r>
            <a:r>
              <a:rPr sz="1350" b="0">
                <a:solidFill>
                  <a:srgbClr val="D83931"/>
                </a:solidFill>
                <a:latin typeface="Noto Sans SC"/>
                <a:ea typeface="Noto Sans SC"/>
                <a:cs typeface="Noto Sans SC"/>
              </a:rPr>
              <a:t>选择器不会走这一支：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389888"/>
            <a:ext cx="493776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3931"/>
                </a:solidFill>
                <a:latin typeface="Times New Roman"/>
                <a:ea typeface="Noto Sans SC"/>
                <a:cs typeface="Noto Sans SC"/>
              </a:rPr>
              <a:t>S1 &gt; S2 </a:t>
            </a:r>
            <a:r>
              <a:rPr sz="1350" b="0">
                <a:solidFill>
                  <a:srgbClr val="D83931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350" b="0">
                <a:solidFill>
                  <a:srgbClr val="D83931"/>
                </a:solidFill>
                <a:latin typeface="Times New Roman"/>
                <a:ea typeface="Noto Sans SC"/>
                <a:cs typeface="Noto Sans SC"/>
              </a:rPr>
              <a:t> causal </a:t>
            </a:r>
            <a:r>
              <a:rPr sz="1350" b="0">
                <a:solidFill>
                  <a:srgbClr val="D83931"/>
                </a:solidFill>
                <a:latin typeface="Noto Sans SC"/>
                <a:ea typeface="Noto Sans SC"/>
                <a:cs typeface="Noto Sans SC"/>
              </a:rPr>
              <a:t>用</a:t>
            </a:r>
            <a:r>
              <a:rPr sz="1350" b="0">
                <a:solidFill>
                  <a:srgbClr val="D83931"/>
                </a:solidFill>
                <a:latin typeface="Times New Roman"/>
                <a:ea typeface="Noto Sans SC"/>
                <a:cs typeface="Noto Sans SC"/>
              </a:rPr>
              <a:t> dense + mask</a:t>
            </a:r>
            <a:r>
              <a:rPr sz="1350" b="0">
                <a:solidFill>
                  <a:srgbClr val="D83931"/>
                </a:solidFill>
                <a:latin typeface="Noto Sans SC"/>
                <a:ea typeface="Noto Sans SC"/>
                <a:cs typeface="Noto Sans SC"/>
              </a:rPr>
              <a:t>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1664207"/>
            <a:ext cx="493776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3931"/>
                </a:solidFill>
                <a:latin typeface="Noto Sans SC"/>
                <a:ea typeface="Noto Sans SC"/>
                <a:cs typeface="Noto Sans SC"/>
              </a:rPr>
              <a:t>本页只解释该算法的几何。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920240" y="2103120"/>
          <a:ext cx="2340864" cy="2926080"/>
        </p:xfrm>
        <a:graphic>
          <a:graphicData uri="http://schemas.openxmlformats.org/drawingml/2006/table">
            <a:tbl>
              <a:tblPr/>
              <a:tblGrid>
                <a:gridCol w="585216"/>
                <a:gridCol w="585216"/>
                <a:gridCol w="585216"/>
                <a:gridCol w="585216"/>
              </a:tblGrid>
              <a:tr h="58521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S1=4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56816" y="1682495"/>
            <a:ext cx="2340864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80760" y="2103120"/>
          <a:ext cx="2340864" cy="2926080"/>
        </p:xfrm>
        <a:graphic>
          <a:graphicData uri="http://schemas.openxmlformats.org/drawingml/2006/table">
            <a:tbl>
              <a:tblPr/>
              <a:tblGrid>
                <a:gridCol w="585216"/>
                <a:gridCol w="585216"/>
                <a:gridCol w="585216"/>
                <a:gridCol w="585216"/>
              </a:tblGrid>
              <a:tr h="58521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S1=4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05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17336" y="1682495"/>
            <a:ext cx="2340864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98448" y="2103120"/>
            <a:ext cx="0" cy="257495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9496" y="3253435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920240" y="5623560"/>
          <a:ext cx="2340864" cy="3712463"/>
        </p:xfrm>
        <a:graphic>
          <a:graphicData uri="http://schemas.openxmlformats.org/drawingml/2006/table">
            <a:tbl>
              <a:tblPr/>
              <a:tblGrid>
                <a:gridCol w="585216"/>
                <a:gridCol w="585216"/>
                <a:gridCol w="585216"/>
                <a:gridCol w="585216"/>
              </a:tblGrid>
              <a:tr h="530352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0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956816" y="5202936"/>
            <a:ext cx="38404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fold </a:t>
            </a:r>
            <a:r>
              <a:rPr sz="13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后的虚拟矩形（行</a:t>
            </a:r>
            <a:r>
              <a:rPr sz="13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</a:t>
            </a:r>
            <a:r>
              <a:rPr sz="13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3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，列</a:t>
            </a:r>
            <a:r>
              <a:rPr sz="13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</a:t>
            </a:r>
            <a:r>
              <a:rPr sz="13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3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692640" y="3127248"/>
          <a:ext cx="480060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692640" y="5084064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9692640" y="5486400"/>
          <a:ext cx="4800600" cy="1536192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(B=2 S2=3)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S2=3)  (B=2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9692640" y="7370064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692640" y="7772400"/>
          <a:ext cx="4800600" cy="2304288"/>
        </p:xfrm>
        <a:graphic>
          <a:graphicData uri="http://schemas.openxmlformats.org/drawingml/2006/table">
            <a:tbl>
              <a:tblPr/>
              <a:tblGrid>
                <a:gridCol w="3520440"/>
                <a:gridCol w="1280160"/>
              </a:tblGrid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虚拟高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2m-n+1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每核负责的真实列数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67512" y="9528048"/>
            <a:ext cx="8869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形状一变，折叠几何跟着变：虚拟高从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变成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2m-n+1 = 6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，但规则本身没变。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每个核守一条虚拟列，落到真实坐标上就是</a:t>
            </a:r>
            <a:r>
              <a: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两个</a:t>
            </a:r>
            <a:r>
              <a:rPr sz="15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各一条</a:t>
            </a:r>
            <a:r>
              <a:rPr sz="15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3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条核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x 6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18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个槽位，正好铺满因果区的</a:t>
            </a:r>
            <a:r>
              <a:rPr sz="15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18 </a:t>
            </a:r>
            <a:r>
              <a:rPr sz="15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个块。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6. GQA Dense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：任务切片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batch 1 · GQA g=2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36804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BSND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3572" y="1444752"/>
            <a:ext cx="218694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causal（epilogue mask）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78528" y="1444752"/>
            <a:ext cx="730758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GQA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7302" y="1444752"/>
            <a:ext cx="188315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dk/dv 共享 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47088"/>
            <a:ext cx="8778240" cy="2478023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S1 块数 m=2, S2 块数 n=2, batch 数 b=1, g=2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每条核要跑几轮: R = max(ceil(b*n*g/k), ceil(n/m), g) = 2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(round r, core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task id = (j-1)*R + ceil(r/m)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core j 独占 R 个连续 task id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批 = ceil( (task id % (b*g) 或取满) / g 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第几列 = ceil(task id / (b*g))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第几组 = task id % g，得 0 时取 g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起点偏移 = ceil( (第几列 % (t1*m) 或取满) / t1 ),  t1 = R/gcd(b*g, R)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第几行 = (轮内序号 + 起点偏移 - 1) % m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若 t1*m &lt; n: 还要一步 ID 重排修正（本例不触发）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" y="4599431"/>
          <a:ext cx="8522206" cy="2286000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" y="7159751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7488935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head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对应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 →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列的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份贡献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不保证同核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7763255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R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与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非整除或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gcd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修正时会分裂）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→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切片分核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+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共享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workspace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的轮序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atomic add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41879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0332720" y="4590288"/>
          <a:ext cx="4297679" cy="146304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0332720" y="6345936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同一形状下其它规则能不能用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332720" y="6748272"/>
          <a:ext cx="4297680" cy="2852928"/>
        </p:xfrm>
        <a:graphic>
          <a:graphicData uri="http://schemas.openxmlformats.org/drawingml/2006/table">
            <a:tbl>
              <a:tblPr/>
              <a:tblGrid>
                <a:gridCol w="1188720"/>
                <a:gridCol w="768096"/>
                <a:gridCol w="2340864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本形状下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本例非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本例非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Dense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★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 &gt; 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67512" y="8330183"/>
            <a:ext cx="91440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67512" y="8732519"/>
          <a:ext cx="8778240" cy="1097280"/>
        </p:xfrm>
        <a:graphic>
          <a:graphicData uri="http://schemas.openxmlformats.org/drawingml/2006/table">
            <a:tbl>
              <a:tblPr/>
              <a:tblGrid>
                <a:gridCol w="868680"/>
                <a:gridCol w="79095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67512" y="10259568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同一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列的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份贡献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不保证同核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R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与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非整除、或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gcd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修正时会分裂）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→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不依赖列私有，改用共享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workspace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的轮序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atomic add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6. GQA Dense ——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(S1,S2)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格上叠着两个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的任务，所以按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拆成两张图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 N2=1 G=1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98448" y="2377440"/>
            <a:ext cx="0" cy="2048256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" y="3264408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719072"/>
            <a:ext cx="2048256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5157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 N2=1 G=2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285232"/>
            <a:ext cx="67208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920240" y="5687568"/>
          <a:ext cx="635508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434340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—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不适用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692640" y="3127248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692640" y="4681728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692640" y="5084064"/>
          <a:ext cx="4800600" cy="1645919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KV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g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份贡献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不保证同核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共享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workspace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只出现一次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920240" y="7644384"/>
            <a:ext cx="63550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每核每轮守哪条列（表头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第几轮）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920240" y="8046720"/>
          <a:ext cx="6355080" cy="877824"/>
        </p:xfrm>
        <a:graphic>
          <a:graphicData uri="http://schemas.openxmlformats.org/drawingml/2006/table">
            <a:tbl>
              <a:tblPr/>
              <a:tblGrid>
                <a:gridCol w="960120"/>
                <a:gridCol w="1348740"/>
                <a:gridCol w="1348740"/>
                <a:gridCol w="1348740"/>
                <a:gridCol w="1348740"/>
              </a:tblGrid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692640" y="7168896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692640" y="7571231"/>
          <a:ext cx="4800600" cy="1609344"/>
        </p:xfrm>
        <a:graphic>
          <a:graphicData uri="http://schemas.openxmlformats.org/drawingml/2006/table">
            <a:tbl>
              <a:tblPr/>
              <a:tblGrid>
                <a:gridCol w="3520440"/>
                <a:gridCol w="128016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同一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列的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份贡献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不保证同核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R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与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非整除、或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gcd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修正时会分裂）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→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不依赖列私有，改用共享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workspace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的轮序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atomic add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同一格上两个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的任务分两行写；颜色仍是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、深浅仍是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本例两条列恰好各自单核；</a:t>
            </a:r>
            <a:r>
              <a: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跨核时不保证列私有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共享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workspace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按轮序累加。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7. TND Dense Swizzle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：逐批列私有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各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[3, 2] ·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[2, 3]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（长度不等）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74117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TND (变长)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6698" y="1444752"/>
            <a:ext cx="107086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非 causal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5578" y="1444752"/>
            <a:ext cx="76708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MHA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0674" y="1444752"/>
            <a:ext cx="128879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dk/dv 列私有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47088"/>
            <a:ext cx="8778240" cy="2478023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batch 数 b=2, 各 batch 长度不同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先算每个 batch 要跑几轮，存成前缀表（轮数可以逐 batch 不同）: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每 batch 轮数 = ceil(该 batch 列数 * head 数 / k) * 该 batch S1 块数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例子: batch1 要 3 轮, batch2 要 4 轮 → 前缀 [0, 3, 7]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(round r, core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在轮前缀表里查 r 落到哪个 batch, 批内轮号 = r - 该 batch 前缀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task id = (批内轮号 / 该 batch S1 块数) * k + (j-1)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第几列 = task id % 该 batch S2 块数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第几行 = (第几列 + 批内轮号) % 该 batch S1 块数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task id 超出该 batch 列数 → 本核本轮 idle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" y="4599431"/>
          <a:ext cx="8522206" cy="3657600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7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" y="8531351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8860535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每个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有自己的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round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前缀，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批内仍按列私有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排；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9134855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核数超过本批列数时那一条核空转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变长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的代价。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41879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0332720" y="4590288"/>
          <a:ext cx="4297679" cy="18288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0332720" y="6711696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同一形状下其它规则能不能用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332720" y="7114032"/>
          <a:ext cx="4297680" cy="2852928"/>
        </p:xfrm>
        <a:graphic>
          <a:graphicData uri="http://schemas.openxmlformats.org/drawingml/2006/table">
            <a:tbl>
              <a:tblPr/>
              <a:tblGrid>
                <a:gridCol w="1188720"/>
                <a:gridCol w="768096"/>
                <a:gridCol w="2340864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本形状下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也能用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k ≤ m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k=2 ≤ m=3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本例非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本例非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Dense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67512" y="10259568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每个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按自己的长度排轮次，短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不拖累长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；核数超过本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列数时会有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7. TND Dense Swizzle ——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两个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的网格大小不同：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batch1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是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3x2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batch2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是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2x3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1920239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1956816"/>
            <a:ext cx="1920239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98448" y="2377440"/>
            <a:ext cx="0" cy="2176272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" y="3328416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719072"/>
            <a:ext cx="1536192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74920" y="2377440"/>
          <a:ext cx="2560320" cy="1920239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11149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285232"/>
            <a:ext cx="67208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920240" y="5687568"/>
          <a:ext cx="635508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434340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692640" y="3127248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(B=2 S2=1)  (B=2 S2=3)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692640" y="4681728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692640" y="5084064"/>
          <a:ext cx="4800600" cy="1645919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空泡不是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mask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没派活；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 =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派了不累加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920240" y="7644384"/>
            <a:ext cx="63550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每核每轮守哪条列（表头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第几轮）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920240" y="8046720"/>
          <a:ext cx="6355076" cy="877824"/>
        </p:xfrm>
        <a:graphic>
          <a:graphicData uri="http://schemas.openxmlformats.org/drawingml/2006/table">
            <a:tbl>
              <a:tblPr/>
              <a:tblGrid>
                <a:gridCol w="960120"/>
                <a:gridCol w="770708"/>
                <a:gridCol w="770708"/>
                <a:gridCol w="770708"/>
                <a:gridCol w="770708"/>
                <a:gridCol w="770708"/>
                <a:gridCol w="770708"/>
                <a:gridCol w="770708"/>
              </a:tblGrid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0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8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8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692640" y="7168896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692640" y="7571231"/>
          <a:ext cx="4800600" cy="2011680"/>
        </p:xfrm>
        <a:graphic>
          <a:graphicData uri="http://schemas.openxmlformats.org/drawingml/2006/table">
            <a:tbl>
              <a:tblPr/>
              <a:tblGrid>
                <a:gridCol w="3520440"/>
                <a:gridCol w="128016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每个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按自己的长度排轮次，短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不拖累长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；核数超过本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列数时会有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灰格</a:t>
            </a:r>
            <a:r>
              <a:rPr sz="16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本轮无列可派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batch1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只有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列，第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4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轮只剩一条核有活）。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对比算法页的对照表：按最长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对齐要多花好几轮。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8. TND GQA Dense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：按面积展平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各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[2, 1] ·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[2, 2] · GQA g=2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74117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TND (变长)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6698" y="1444752"/>
            <a:ext cx="218694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causal（epilogue mask）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51654" y="1444752"/>
            <a:ext cx="730758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GQA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0428" y="1444752"/>
            <a:ext cx="188315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dk/dv 共享 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47088"/>
            <a:ext cx="8778240" cy="355244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batch 数 b=2, g=2, 各 batch 长度不同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先算每 batch 的任务面积并累加: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面积 = 该 batch S1 块数 * S2 块数;  面积前缀 = 逐 batch 累加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例子: 面积前缀 [0, 4, 6]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总轮数 = max(ceil(总面积*head数*g/k), 最大S1块数*g, 最大S2块数) = 6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(round r, core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全局 task id = (j-1) * 总轮数 + r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每条核独占一段，顺序扫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用面积前缀查出它属于哪个 batch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批内号 = 全局 task id - 该 batch 面积前缀 * (N2 数 * g)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片号   = ceil(批内号 / (m*n*g));  N2 = 片号 - 1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片内号 = 批内号 取模 (m*n*g)，得 0 时取满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第几列 = ceil(片内号 / (m*g))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第几组 = ceil( (片内号 取模 (m*g)) / m 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第几行 = (片内号 取模 (m*g)) 取模 m，得 0 时取 m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若 t1 &lt; n: 还有一步 gcd 对齐修正（本例不触发）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" y="5673851"/>
          <a:ext cx="8522206" cy="3200400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" y="9148572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9477755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按面积前缀把任务空间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展平后等分成</a:t>
            </a:r>
            <a:r>
              <a:rPr sz="13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 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段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，每条核顺序扫自己那段；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9752076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不追求列私有，只保证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同轮各核的</a:t>
            </a:r>
            <a:r>
              <a:rPr sz="13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(B,N2,G,S1) </a:t>
            </a:r>
            <a:r>
              <a:rPr sz="13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互不相同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41879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0332720" y="4590288"/>
          <a:ext cx="4297679" cy="146304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0332720" y="6345936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换成按最长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对齐（示意）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332720" y="6748272"/>
          <a:ext cx="4297680" cy="1426464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2103120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做法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总轮数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说明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本页规则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（逐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各按自己的长度排，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短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不被拖慢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按最长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对齐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（示意）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所有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按最长的排，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短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大量空转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332720" y="83027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332720" y="8705088"/>
          <a:ext cx="4297680" cy="1097280"/>
        </p:xfrm>
        <a:graphic>
          <a:graphicData uri="http://schemas.openxmlformats.org/drawingml/2006/table">
            <a:tbl>
              <a:tblPr/>
              <a:tblGrid>
                <a:gridCol w="868680"/>
                <a:gridCol w="342900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(B=1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  (B=2 S2=1)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67512" y="10259568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变长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GQA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无法逐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对齐，直接把整个任务空间展平等分给各核，顺序扫过。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8. TND GQA Dense ——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面积大的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分到的格子多；每个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(S1,S2)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格上有两个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的任务，按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拆图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 N2=1 G=1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98448" y="2377440"/>
            <a:ext cx="0" cy="2048256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" y="3264408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719072"/>
            <a:ext cx="2048256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5157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 N2=1 G=2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920240" y="5989320"/>
          <a:ext cx="2560317" cy="1706878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956816" y="556869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 N2=1 G=1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715000" y="5989320"/>
          <a:ext cx="2560317" cy="1706878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751576" y="556869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 N2=1 G=2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692640" y="3127248"/>
          <a:ext cx="480060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—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不适用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692640" y="5084064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692640" y="5486400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(B=1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  (B=2 S2=1)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692640" y="7040879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692640" y="7443215"/>
          <a:ext cx="4800600" cy="1645919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KV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g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份贡献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不保证同核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共享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workspace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只出现一次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变长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GQA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无法逐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对齐，直接把整个任务空间展平等分给各核，顺序扫过。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四个小块合起来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12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个任务，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条核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x 6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轮扫完，</a:t>
            </a:r>
            <a:r>
              <a: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零</a:t>
            </a:r>
            <a:r>
              <a:rPr sz="1600" b="1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batch2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只有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1x2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块，所以它那两张图更矮。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9.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性能对比：确定性</a:t>
            </a:r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BN2S2 vs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基线</a:t>
            </a:r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vs opst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本仓库：</a:t>
            </a:r>
            <a:r>
              <a:rPr sz="14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v4-det / v4-nd</a:t>
            </a:r>
            <a:r>
              <a:rPr sz="14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（基线）；参考仓库：</a:t>
            </a:r>
            <a:r>
              <a:rPr sz="14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opst-det / opst-nd · causal BSND H8 D128 · </a:t>
            </a:r>
            <a:r>
              <a:rPr sz="14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核时为</a:t>
            </a:r>
            <a:r>
              <a:rPr sz="14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msprof kernel </a:t>
            </a:r>
            <a:r>
              <a:rPr sz="14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时间（</a:t>
            </a:r>
            <a:r>
              <a:rPr sz="14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device </a:t>
            </a:r>
            <a:r>
              <a:rPr sz="14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侧），非</a:t>
            </a:r>
            <a:r>
              <a:rPr sz="14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event record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36192"/>
            <a:ext cx="13898880" cy="3520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" y="5166360"/>
            <a:ext cx="138988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核时取自</a:t>
            </a:r>
            <a:r>
              <a:rPr sz="1050" b="0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msprof Task Duration </a:t>
            </a:r>
            <a:r>
              <a:rPr sz="1050" b="0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中位数；倍率由核时相除得到（</a:t>
            </a:r>
            <a:r>
              <a:rPr sz="1050" b="0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profiling </a:t>
            </a:r>
            <a:r>
              <a:rPr sz="1050" b="0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口径，非</a:t>
            </a:r>
            <a:r>
              <a:rPr sz="1050" b="0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event record</a:t>
            </a:r>
            <a:r>
              <a:rPr sz="1050" b="0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；图内文字用英文以避开字体缺字）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5623560"/>
          <a:ext cx="9381744" cy="2926080"/>
        </p:xfrm>
        <a:graphic>
          <a:graphicData uri="http://schemas.openxmlformats.org/drawingml/2006/table">
            <a:tbl>
              <a:tblPr/>
              <a:tblGrid>
                <a:gridCol w="1920240"/>
                <a:gridCol w="932688"/>
                <a:gridCol w="932688"/>
                <a:gridCol w="932688"/>
                <a:gridCol w="932688"/>
                <a:gridCol w="932688"/>
                <a:gridCol w="932688"/>
                <a:gridCol w="932688"/>
                <a:gridCol w="93268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核时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(μs)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b1_s1024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b1_s2048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b1_s4096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b1_s8192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b2_s4096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b4_s4096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b8_s4096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b4_s8192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det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核时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(μs)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77.2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187.8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590.6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2327.3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1257.1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2527.7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5286.7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9834.3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nd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核时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(μs)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55.5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138.9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498.5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1905.2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1087.5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2416.5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4984.0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8703.9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核时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(μs)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57.3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123.9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393.8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1501.4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922.6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2703.3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5444.3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11976.0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核时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(μs)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46.7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104.3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338.4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1348.1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775.8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1639.7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3875.9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6055.6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det/nd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开销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(×)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1.39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1.35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det/nd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开销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(×)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1.65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1.40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1.98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det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对比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opst/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(×)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332720" y="5623560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三个对比怎么读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332720" y="6025896"/>
          <a:ext cx="4297680" cy="2267712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</a:tblGrid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对比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结论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det vs det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opst-det /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-det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：大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shape </a:t>
                      </a:r>
                      <a:r>
                        <a:rPr sz="115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&gt;1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（本仓库更快），小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shape &lt;1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本仓库确定性开销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det / nd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</a:t>
                      </a:r>
                      <a:r>
                        <a:rPr sz="115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1.05–1.22×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，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shape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开销更小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确定性开销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det / nd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1.11–1.98×</a:t>
                      </a: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，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比本仓库高不少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7512" y="10195560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结论：确定性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BN2S2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的开销随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增大而收敛（大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核时反超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opst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、确定性损失也更小）；小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仍是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opst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更快；表格加粗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= det / nd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两组各自列内最优。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