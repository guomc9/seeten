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9052560" cy="4498848"/>
        </p:xfrm>
        <a:graphic>
          <a:graphicData uri="http://schemas.openxmlformats.org/drawingml/2006/table">
            <a:tbl>
              <a:tblPr/>
              <a:tblGrid>
                <a:gridCol w="2212848"/>
                <a:gridCol w="1097280"/>
                <a:gridCol w="1097280"/>
                <a:gridCol w="1280160"/>
                <a:gridCol w="822960"/>
                <a:gridCol w="822960"/>
                <a:gridCol w="1719072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510528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876288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表中「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」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本页例子的形状；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223760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69924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808329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46734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5139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157276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104120" y="1975104"/>
          <a:ext cx="4572000" cy="2816352"/>
        </p:xfrm>
        <a:graphic>
          <a:graphicData uri="http://schemas.openxmlformats.org/drawingml/2006/table">
            <a:tbl>
              <a:tblPr/>
              <a:tblGrid>
                <a:gridCol w="960120"/>
                <a:gridCol w="361188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0104120" y="5138928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0104120" y="5541264"/>
          <a:ext cx="45720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29718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0104120" y="7717536"/>
            <a:ext cx="49377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0104120" y="8119871"/>
          <a:ext cx="4572000" cy="1901952"/>
        </p:xfrm>
        <a:graphic>
          <a:graphicData uri="http://schemas.openxmlformats.org/drawingml/2006/table">
            <a:tbl>
              <a:tblPr/>
              <a:tblGrid>
                <a:gridCol w="1508760"/>
                <a:gridCol w="306324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596896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24144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452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7548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4360" y="1444752"/>
            <a:ext cx="14373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77113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17346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48640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888736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973568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8375904"/>
          <a:ext cx="480060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1920240"/>
                <a:gridCol w="19202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5199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causal（方形）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152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662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68262" y="1444752"/>
            <a:ext cx="255016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173456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causal（S1 = S2）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6154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21250" y="1444752"/>
            <a:ext cx="217703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6300" y="1444752"/>
            <a:ext cx="183362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87942" y="1444752"/>
            <a:ext cx="243789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38504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78738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71500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29437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80760" y="2103120"/>
          <a:ext cx="2340864" cy="2926080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85216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8521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5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17336" y="1682495"/>
            <a:ext cx="2340864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103120"/>
            <a:ext cx="0" cy="257495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253435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23560"/>
          <a:ext cx="2340864" cy="3712463"/>
        </p:xfrm>
        <a:graphic>
          <a:graphicData uri="http://schemas.openxmlformats.org/drawingml/2006/table">
            <a:tbl>
              <a:tblPr/>
              <a:tblGrid>
                <a:gridCol w="585216"/>
                <a:gridCol w="585216"/>
                <a:gridCol w="585216"/>
                <a:gridCol w="585216"/>
              </a:tblGrid>
              <a:tr h="53035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0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45720" marR="4572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1956816" y="5202936"/>
            <a:ext cx="38404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5486400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7370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7772400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67512" y="952804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36804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63572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8528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7302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33018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73251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107086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非 causal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35578" y="1444752"/>
            <a:ext cx="76708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0674" y="1444752"/>
            <a:ext cx="128879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8288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188720"/>
                <a:gridCol w="768096"/>
                <a:gridCol w="2340864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285232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687568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127248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6817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084064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64438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8046720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1688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571231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74117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6698" y="1444752"/>
            <a:ext cx="2186940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causal（epilogue mask）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51654" y="1444752"/>
            <a:ext cx="73075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10428" y="1444752"/>
            <a:ext cx="18831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879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590288"/>
          <a:ext cx="4297679" cy="146304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459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48272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30275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705088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7249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127248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508406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48640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040879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443215"/>
          <a:ext cx="4800600" cy="1645919"/>
        </p:xfrm>
        <a:graphic>
          <a:graphicData uri="http://schemas.openxmlformats.org/drawingml/2006/table">
            <a:tbl>
              <a:tblPr/>
              <a:tblGrid>
                <a:gridCol w="2057400"/>
                <a:gridCol w="2743200"/>
              </a:tblGrid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性能对比：确定性开销（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 / nd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核时倍率）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本仓库：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v4-det / v4-nd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（基线）；参考仓库：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opst-det / opst-nd · causal BSND H8 D128 ·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侧），非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event record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36192"/>
            <a:ext cx="1389888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126480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中位数；倍率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det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/ nd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口径，非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583680"/>
          <a:ext cx="9281160" cy="1152144"/>
        </p:xfrm>
        <a:graphic>
          <a:graphicData uri="http://schemas.openxmlformats.org/drawingml/2006/table">
            <a:tbl>
              <a:tblPr/>
              <a:tblGrid>
                <a:gridCol w="1600200"/>
                <a:gridCol w="960120"/>
                <a:gridCol w="960120"/>
                <a:gridCol w="960120"/>
                <a:gridCol w="960120"/>
                <a:gridCol w="960120"/>
                <a:gridCol w="960120"/>
                <a:gridCol w="960120"/>
                <a:gridCol w="9601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det/nd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开销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(×)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b1_s1024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b1_s2048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b1_s8192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b4_s8192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1.35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1.23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1.65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1.40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1.98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7882128"/>
            <a:ext cx="95554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95560" y="658368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0195560" y="6986016"/>
          <a:ext cx="4297680" cy="2048256"/>
        </p:xfrm>
        <a:graphic>
          <a:graphicData uri="http://schemas.openxmlformats.org/drawingml/2006/table">
            <a:tbl>
              <a:tblPr/>
              <a:tblGrid>
                <a:gridCol w="1143000"/>
                <a:gridCol w="3154680"/>
              </a:tblGrid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确定性更慢（劣化）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1.05–1.22×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15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随</a:t>
                      </a:r>
                      <a:r>
                        <a:rPr sz="115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</a:t>
                      </a:r>
                      <a:r>
                        <a:rPr sz="115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增大收敛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1.11–1.98×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劣化近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2×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结论：本仓库的确定性开销明显更小（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1.05–1.22×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），且随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增大而收敛；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的确定性劣化在大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上接近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2×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9.2.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det-vs-det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opst-det /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同口径确定性实现对比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causal BSND H8 D128 ·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36192"/>
            <a:ext cx="1389888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126480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中位数；比值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opst-det /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-det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&lt;1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本仓库更慢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583680"/>
          <a:ext cx="9281160" cy="1152144"/>
        </p:xfrm>
        <a:graphic>
          <a:graphicData uri="http://schemas.openxmlformats.org/drawingml/2006/table">
            <a:tbl>
              <a:tblPr/>
              <a:tblGrid>
                <a:gridCol w="1600200"/>
                <a:gridCol w="960120"/>
                <a:gridCol w="960120"/>
                <a:gridCol w="960120"/>
                <a:gridCol w="960120"/>
                <a:gridCol w="960120"/>
                <a:gridCol w="960120"/>
                <a:gridCol w="960120"/>
                <a:gridCol w="9601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b1_s1024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b1_s2048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b1_s8192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b4_s8192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187.8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590.6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2327.3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1257.1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2527.7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5286.7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9834.3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det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57.3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393.8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1501.4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922.6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2703.3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5444.3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11976.0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7882128"/>
            <a:ext cx="95554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95560" y="658368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0195560" y="6986016"/>
          <a:ext cx="4297680" cy="2048256"/>
        </p:xfrm>
        <a:graphic>
          <a:graphicData uri="http://schemas.openxmlformats.org/drawingml/2006/table">
            <a:tbl>
              <a:tblPr/>
              <a:tblGrid>
                <a:gridCol w="1143000"/>
                <a:gridCol w="3154680"/>
              </a:tblGrid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&gt;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本仓库更快（蓝柱）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&lt; 1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本仓库更慢（灰柱）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现状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小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慢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1.35–1.55×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shape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快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3–18%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/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仍是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的确定性实现更快；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b4/b8_s4096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b4_s8192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三个大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shape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上本仓库反超（最多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18%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）。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9.3.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性能对比：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nd-vs-nd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opst-nd /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非确定性路径对比（基线口径）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causal BSND H8 D128 ·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核时为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msprof kernel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时间（</a:t>
            </a:r>
            <a:r>
              <a:rPr sz="14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4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侧）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536192"/>
            <a:ext cx="1389888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" y="6126480"/>
            <a:ext cx="138988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核时取自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msprof Task Duration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中位数；比值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opst-nd /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本仓库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-nd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&lt;1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的柱标灰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本仓库更慢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67512" y="6583680"/>
          <a:ext cx="9281160" cy="1152144"/>
        </p:xfrm>
        <a:graphic>
          <a:graphicData uri="http://schemas.openxmlformats.org/drawingml/2006/table">
            <a:tbl>
              <a:tblPr/>
              <a:tblGrid>
                <a:gridCol w="1600200"/>
                <a:gridCol w="960120"/>
                <a:gridCol w="960120"/>
                <a:gridCol w="960120"/>
                <a:gridCol w="960120"/>
                <a:gridCol w="960120"/>
                <a:gridCol w="960120"/>
                <a:gridCol w="960120"/>
                <a:gridCol w="960120"/>
              </a:tblGrid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核时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(μs)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b1_s1024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b1_s2048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b1_s8192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b2_s4096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b8_s4096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b4_s8192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55.5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138.9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498.5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1905.2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1087.5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2416.5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4984.0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8703.9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/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opst nd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46.7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104.3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338.4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1348.1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775.8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1639.7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3875.9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250" b="1">
                          <a:solidFill>
                            <a:srgbClr val="000000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6055.6</a:t>
                      </a:r>
                    </a:p>
                  </a:txBody>
                  <a:tcPr anchor="ctr" marL="101600" marR="10160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67512" y="7882128"/>
            <a:ext cx="95554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profiling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核时（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device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侧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kernel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时间），非</a:t>
            </a:r>
            <a:r>
              <a:rPr sz="1050" b="0">
                <a:solidFill>
                  <a:srgbClr val="6B6F76"/>
                </a:solidFill>
                <a:latin typeface="Times New Roman"/>
                <a:ea typeface="Noto Sans SC"/>
                <a:cs typeface="Noto Sans SC"/>
              </a:rPr>
              <a:t> event record </a:t>
            </a:r>
            <a:r>
              <a:rPr sz="1050" b="0">
                <a:solidFill>
                  <a:srgbClr val="6B6F76"/>
                </a:solidFill>
                <a:latin typeface="Noto Sans SC"/>
                <a:ea typeface="Noto Sans SC"/>
                <a:cs typeface="Noto Sans SC"/>
              </a:rPr>
              <a:t>端到端计时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95560" y="658368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0195560" y="6986016"/>
          <a:ext cx="4297680" cy="2048256"/>
        </p:xfrm>
        <a:graphic>
          <a:graphicData uri="http://schemas.openxmlformats.org/drawingml/2006/table">
            <a:tbl>
              <a:tblPr/>
              <a:tblGrid>
                <a:gridCol w="1143000"/>
                <a:gridCol w="3154680"/>
              </a:tblGrid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看什么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结论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&lt;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全部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本仓库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nd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全面慢于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opst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差距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1.19–1.47×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（既有问题）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1206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非确定路径差距与本重构无关</a:t>
                      </a:r>
                    </a:p>
                  </a:txBody>
                  <a:tcPr anchor="ctr" marL="101600" marR="10160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10259568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结论：非确定路径上本仓库整体慢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opst 1.19–1.47×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这是分支既有的基础流水线差距，与本次确定性重构无关。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