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5240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66928"/>
            <a:ext cx="12344400" cy="5029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张量分块与核</a:t>
            </a:r>
            <a:r>
              <a:rPr sz="30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/</a:t>
            </a:r>
            <a:r>
              <a:rPr sz="30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轮分配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1115568"/>
            <a:ext cx="1188720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输入：核数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2 · S1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分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3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块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· S2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分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3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块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·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共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9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个分块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572768"/>
          <a:ext cx="9125711" cy="3567987"/>
        </p:xfrm>
        <a:graphic>
          <a:graphicData uri="http://schemas.openxmlformats.org/drawingml/2006/table">
            <a:tbl>
              <a:tblPr/>
              <a:tblGrid>
                <a:gridCol w="1463040"/>
                <a:gridCol w="1097280"/>
                <a:gridCol w="3749039"/>
                <a:gridCol w="2816352"/>
              </a:tblGrid>
              <a:tr h="731520">
                <a:tc>
                  <a:txBody>
                    <a:bodyPr wrap="none"/>
                    <a:lstStyle/>
                    <a:p>
                      <a:pPr algn="ctr"/>
                      <a:r>
                        <a:rPr sz="1550" b="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参数</a:t>
                      </a:r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取值</a:t>
                      </a:r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说明</a:t>
                      </a:r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备注</a:t>
                      </a:r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802843">
                <a:tc>
                  <a:txBody>
                    <a:bodyPr wrap="none"/>
                    <a:lstStyle/>
                    <a:p>
                      <a:pPr algn="ctr"/>
                      <a:r>
                        <a:rPr sz="15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核数</a:t>
                      </a:r>
                      <a:r>
                        <a:rPr sz="15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k</a:t>
                      </a:r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并行计算的核数量</a:t>
                      </a:r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lane </a:t>
                      </a:r>
                      <a:r>
                        <a:rPr sz="15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数</a:t>
                      </a:r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508406">
                <a:tc>
                  <a:txBody>
                    <a:bodyPr wrap="none"/>
                    <a:lstStyle/>
                    <a:p>
                      <a:pPr algn="ctr"/>
                      <a:r>
                        <a:rPr sz="15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 </a:t>
                      </a:r>
                      <a:r>
                        <a:rPr sz="15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块数</a:t>
                      </a:r>
                      <a:r>
                        <a:rPr sz="15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m</a:t>
                      </a:r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</a:t>
                      </a:r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5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1 </a:t>
                      </a:r>
                      <a:r>
                        <a:rPr sz="15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个方向切成几块</a:t>
                      </a:r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每块</a:t>
                      </a:r>
                      <a:r>
                        <a:rPr sz="15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128 </a:t>
                      </a:r>
                      <a:r>
                        <a:rPr sz="15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行</a:t>
                      </a:r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508406">
                <a:tc>
                  <a:txBody>
                    <a:bodyPr wrap="none"/>
                    <a:lstStyle/>
                    <a:p>
                      <a:pPr algn="ctr"/>
                      <a:r>
                        <a:rPr sz="15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 </a:t>
                      </a:r>
                      <a:r>
                        <a:rPr sz="15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块数</a:t>
                      </a:r>
                      <a:r>
                        <a:rPr sz="15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n</a:t>
                      </a:r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</a:t>
                      </a:r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5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2 </a:t>
                      </a:r>
                      <a:r>
                        <a:rPr sz="15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个方向切成几块</a:t>
                      </a:r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每块</a:t>
                      </a:r>
                      <a:r>
                        <a:rPr sz="15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128 </a:t>
                      </a:r>
                      <a:r>
                        <a:rPr sz="15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列</a:t>
                      </a:r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508406">
                <a:tc>
                  <a:txBody>
                    <a:bodyPr wrap="none"/>
                    <a:lstStyle/>
                    <a:p>
                      <a:pPr algn="ctr"/>
                      <a:r>
                        <a:rPr sz="15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分块总数</a:t>
                      </a:r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9</a:t>
                      </a:r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m x n</a:t>
                      </a:r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每个块一项任务</a:t>
                      </a:r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508406">
                <a:tc>
                  <a:txBody>
                    <a:bodyPr wrap="none"/>
                    <a:lstStyle/>
                    <a:p>
                      <a:pPr algn="ctr"/>
                      <a:r>
                        <a:rPr sz="15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轮数</a:t>
                      </a:r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</a:t>
                      </a:r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ceil(m*n / k)</a:t>
                      </a:r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末轮可能有余</a:t>
                      </a:r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67512" y="5394960"/>
          <a:ext cx="3538728" cy="2834640"/>
        </p:xfrm>
        <a:graphic>
          <a:graphicData uri="http://schemas.openxmlformats.org/drawingml/2006/table">
            <a:tbl>
              <a:tblPr/>
              <a:tblGrid>
                <a:gridCol w="1179576"/>
                <a:gridCol w="1179576"/>
                <a:gridCol w="1179576"/>
              </a:tblGrid>
              <a:tr h="548640">
                <a:tc>
                  <a:txBody>
                    <a:bodyPr wrap="none"/>
                    <a:lstStyle/>
                    <a:p>
                      <a:pPr algn="ctr"/>
                      <a:r>
                        <a:rPr sz="17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核</a:t>
                      </a:r>
                      <a:r>
                        <a:rPr sz="17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/</a:t>
                      </a:r>
                      <a:r>
                        <a:rPr sz="17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7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7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/>
                      <a:r>
                        <a:rPr sz="17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7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1 </a:t>
                      </a:r>
                      <a:r>
                        <a:rPr sz="17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7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 S2=1</a:t>
                      </a:r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7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 S2=1</a:t>
                      </a:r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/>
                      <a:r>
                        <a:rPr sz="17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7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2 </a:t>
                      </a:r>
                      <a:r>
                        <a:rPr sz="17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7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S1=3 S2=1</a:t>
                      </a:r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7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 S2=2</a:t>
                      </a:r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/>
                      <a:r>
                        <a:rPr sz="17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7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3 </a:t>
                      </a:r>
                      <a:r>
                        <a:rPr sz="17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7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 S2=2</a:t>
                      </a:r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7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S1=3 S2=2</a:t>
                      </a:r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/>
                      <a:r>
                        <a:rPr sz="17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7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4 </a:t>
                      </a:r>
                      <a:r>
                        <a:rPr sz="17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7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 S2=3</a:t>
                      </a:r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7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 S2=3</a:t>
                      </a:r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/>
                      <a:r>
                        <a:rPr sz="17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7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5 </a:t>
                      </a:r>
                      <a:r>
                        <a:rPr sz="17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7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S1=3 S2=3</a:t>
                      </a:r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7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—</a:t>
                      </a:r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120640" y="5230368"/>
            <a:ext cx="365760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分块网格（颜色</a:t>
            </a:r>
            <a:r>
              <a:rPr sz="15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= </a:t>
            </a:r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分组）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120640" y="5623560"/>
          <a:ext cx="1838654" cy="1809749"/>
        </p:xfrm>
        <a:graphic>
          <a:graphicData uri="http://schemas.openxmlformats.org/drawingml/2006/table">
            <a:tbl>
              <a:tblPr/>
              <a:tblGrid>
                <a:gridCol w="612885"/>
                <a:gridCol w="612885"/>
                <a:gridCol w="612885"/>
              </a:tblGrid>
              <a:tr h="603250">
                <a:tc>
                  <a:txBody>
                    <a:bodyPr wrap="none"/>
                    <a:lstStyle/>
                    <a:p>
                      <a:pPr algn="ctr"/>
                      <a:r>
                        <a:rPr sz="1750" b="1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B0</a:t>
                      </a:r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3370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750" b="1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B1</a:t>
                      </a:r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82A7F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750" b="1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B2</a:t>
                      </a:r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E1EAFF"/>
                    </a:solidFill>
                  </a:tcPr>
                </a:tc>
              </a:tr>
              <a:tr h="603250">
                <a:tc>
                  <a:txBody>
                    <a:bodyPr wrap="none"/>
                    <a:lstStyle/>
                    <a:p>
                      <a:pPr algn="ctr"/>
                      <a:r>
                        <a:rPr sz="1750" b="1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B3</a:t>
                      </a:r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82A7F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750" b="1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B4</a:t>
                      </a:r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E1EA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750" b="1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B5</a:t>
                      </a:r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3370FF"/>
                    </a:solidFill>
                  </a:tcPr>
                </a:tc>
              </a:tr>
              <a:tr h="603250">
                <a:tc>
                  <a:txBody>
                    <a:bodyPr wrap="none"/>
                    <a:lstStyle/>
                    <a:p>
                      <a:pPr algn="ctr"/>
                      <a:r>
                        <a:rPr sz="1750" b="1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B6</a:t>
                      </a:r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E1EA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750" b="1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B7</a:t>
                      </a:r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3370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750" b="1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B8</a:t>
                      </a:r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82A7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120640" y="7818120"/>
            <a:ext cx="768096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每个核负责哪些块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120640" y="8147304"/>
          <a:ext cx="7315200" cy="1207008"/>
        </p:xfrm>
        <a:graphic>
          <a:graphicData uri="http://schemas.openxmlformats.org/drawingml/2006/table">
            <a:tbl>
              <a:tblPr/>
              <a:tblGrid>
                <a:gridCol w="822960"/>
                <a:gridCol w="6492240"/>
              </a:tblGrid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核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负责的</a:t>
                      </a: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(S1, S2)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 S2=1 -&gt; S1=3 S2=1 -&gt; S1=2 S2=2 -&gt; S1=1 S2=3 -&gt; S1=3 S2=3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 S2=1 -&gt; S1=1 S2=2 -&gt; S1=3 S2=2 -&gt; S1=2 S2=3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67512" y="9509760"/>
            <a:ext cx="8869680" cy="32918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分块分给核以后，每个核按自己的顺序累加</a:t>
            </a:r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—— 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顺序固定，结果就固定。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66928"/>
            <a:ext cx="12344400" cy="5029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任务矩阵与覆盖图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1115568"/>
            <a:ext cx="1371600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任务矩阵：纵轴是轮、横轴是核；覆盖图把同样的信息摊到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(S1, S2)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平面上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7512" y="1481328"/>
            <a:ext cx="8778240" cy="1833372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D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82296" bIns="82296"/>
          <a:lstStyle/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核数 k=2, S1 块数 m=3, S2 块数 n=3</a:t>
            </a:r>
          </a:p>
          <a:p>
            <a:pPr algn="l">
              <a:lnSpc>
                <a:spcPct val="112800"/>
              </a:lnSpc>
            </a:pPr>
            <a:r>
              <a:rPr sz="1250" b="1">
                <a:solidFill>
                  <a:srgbClr val="0086B3"/>
                </a:solidFill>
                <a:latin typeface="Consolas"/>
                <a:ea typeface="Noto Sans SC"/>
                <a:cs typeface="Noto Sans SC"/>
              </a:rPr>
              <a:t>对每个</a:t>
            </a: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(轮 r, 核 j):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   任务号 = (r-1) * k + (j-1)      </a:t>
            </a:r>
            <a:r>
              <a:rPr sz="1250">
                <a:solidFill>
                  <a:srgbClr val="969896"/>
                </a:solidFill>
                <a:latin typeface="Consolas"/>
                <a:ea typeface="Noto Sans SC"/>
                <a:cs typeface="Noto Sans SC"/>
              </a:rPr>
              <a:t>  # 核优先，一条接一条铺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   第几块 = 任务号 + 1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   S1 = (第几块-1) / n + 1         </a:t>
            </a:r>
            <a:r>
              <a:rPr sz="1250">
                <a:solidFill>
                  <a:srgbClr val="969896"/>
                </a:solidFill>
                <a:latin typeface="Consolas"/>
                <a:ea typeface="Noto Sans SC"/>
                <a:cs typeface="Noto Sans SC"/>
              </a:rPr>
              <a:t>  # 先走 S2 再换 S1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   S2 = (第几块-1) % n + 1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   任务号 &gt;= m*n 时本核本轮空闲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67512" y="3607308"/>
          <a:ext cx="8732520" cy="2852928"/>
        </p:xfrm>
        <a:graphic>
          <a:graphicData uri="http://schemas.openxmlformats.org/drawingml/2006/table">
            <a:tbl>
              <a:tblPr/>
              <a:tblGrid>
                <a:gridCol w="1051560"/>
                <a:gridCol w="3840480"/>
                <a:gridCol w="3840480"/>
              </a:tblGrid>
              <a:tr h="47548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\ 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核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1 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  S2=1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任务号</a:t>
                      </a: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=1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E7C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  S2=2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任务号</a:t>
                      </a: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=2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7A5AF8"/>
                    </a:solidFill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2 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  S2=3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任务号</a:t>
                      </a: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=3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E7C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  S2=1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任务号</a:t>
                      </a: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=4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7A5AF8"/>
                    </a:solidFill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3 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  S2=2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任务号</a:t>
                      </a: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=5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E7C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  S2=3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任务号</a:t>
                      </a: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=6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7A5AF8"/>
                    </a:solidFill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4 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S1=3  S2=1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任务号</a:t>
                      </a: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=7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E7C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S1=3  S2=2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任务号</a:t>
                      </a: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=8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7A5AF8"/>
                    </a:solidFill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5 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S1=3  S2=3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任务号</a:t>
                      </a: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=9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E7C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空闲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2F3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67512" y="6844283"/>
            <a:ext cx="461772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这个例子的数字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67512" y="7173468"/>
          <a:ext cx="4251960" cy="2011680"/>
        </p:xfrm>
        <a:graphic>
          <a:graphicData uri="http://schemas.openxmlformats.org/drawingml/2006/table">
            <a:tbl>
              <a:tblPr/>
              <a:tblGrid>
                <a:gridCol w="2926080"/>
                <a:gridCol w="1325880"/>
              </a:tblGrid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项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值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分块总数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9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轮数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核数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空位（末轮余下）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67512" y="9464040"/>
            <a:ext cx="8869680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一条核在一轮里只算一个分块；核数除不尽时末轮有空位（灰格）。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0241280" y="2926080"/>
          <a:ext cx="2926080" cy="2926080"/>
        </p:xfrm>
        <a:graphic>
          <a:graphicData uri="http://schemas.openxmlformats.org/drawingml/2006/table">
            <a:tbl>
              <a:tblPr/>
              <a:tblGrid>
                <a:gridCol w="731520"/>
                <a:gridCol w="731520"/>
                <a:gridCol w="731520"/>
                <a:gridCol w="731520"/>
              </a:tblGrid>
              <a:tr h="731520">
                <a:tc>
                  <a:txBody>
                    <a:bodyPr/>
                    <a:lstStyle/>
                    <a:p/>
                  </a:txBody>
                  <a:tcPr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S2=3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E7C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7A5AF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E7CF0"/>
                    </a:solidFill>
                  </a:tcPr>
                </a:tc>
              </a:tr>
              <a:tr h="73152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7A5AF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E7C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7A5AF8"/>
                    </a:solidFill>
                  </a:tcPr>
                </a:tc>
              </a:tr>
              <a:tr h="73152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S1=3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E7C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7A5AF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E7CF0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0277855" y="2560320"/>
            <a:ext cx="292608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全部分块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332719" y="2852928"/>
            <a:ext cx="0" cy="73152"/>
          </a:xfrm>
          <a:prstGeom prst="line">
            <a:avLst/>
          </a:prstGeom>
          <a:ln w="9525">
            <a:solidFill>
              <a:srgbClr val="DDDED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921240" y="2926080"/>
            <a:ext cx="0" cy="2487168"/>
          </a:xfrm>
          <a:prstGeom prst="line">
            <a:avLst/>
          </a:prstGeom>
          <a:ln w="12700">
            <a:solidFill>
              <a:srgbClr val="2B2F3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162288" y="4032504"/>
            <a:ext cx="713232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14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S1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241280" y="2212848"/>
            <a:ext cx="2487168" cy="0"/>
          </a:xfrm>
          <a:prstGeom prst="line">
            <a:avLst/>
          </a:prstGeom>
          <a:ln w="12700">
            <a:solidFill>
              <a:srgbClr val="2B2F3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0241280" y="1901951"/>
            <a:ext cx="146304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S2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016752"/>
            <a:ext cx="420624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格内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=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第几轮执行，颜色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=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哪个核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